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4630400" cy="8229600"/>
  <p:notesSz cx="8229600" cy="14630400"/>
  <p:embeddedFontLst>
    <p:embeddedFont>
      <p:font typeface="Bitter" charset="0"/>
      <p:regular r:id="rId18"/>
      <p:bold r:id="rId19"/>
      <p:italic r:id="rId20"/>
      <p:boldItalic r:id="rId21"/>
    </p:embeddedFont>
    <p:embeddedFont>
      <p:font typeface="Open Sans" charset="0"/>
      <p:regular r:id="rId22"/>
      <p:bold r:id="rId23"/>
      <p:italic r:id="rId24"/>
      <p:boldItalic r:id="rId25"/>
    </p:embeddedFont>
    <p:embeddedFont>
      <p:font typeface="Georgia" pitchFamily="18" charset="0"/>
      <p:regular r:id="rId26"/>
      <p:bold r:id="rId27"/>
      <p:italic r:id="rId28"/>
      <p:boldItalic r:id="rId29"/>
    </p:embeddedFont>
    <p:embeddedFont>
      <p:font typeface="Calibri" pitchFamily="3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4" d="100"/>
          <a:sy n="74" d="100"/>
        </p:scale>
        <p:origin x="-408" y="-67"/>
      </p:cViewPr>
      <p:guideLst>
        <p:guide orient="horz" pos="2592"/>
        <p:guide pos="4608"/>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pPr marL="0" marR="0" lvl="0" indent="0" algn="r" rtl="0">
                <a:spcBef>
                  <a:spcPts val="0"/>
                </a:spcBef>
                <a:spcAft>
                  <a:spcPts val="0"/>
                </a:spcAft>
                <a:buNone/>
              </a:pPr>
              <a:t>‹#›</a:t>
            </a:fld>
            <a:endParaRPr sz="1200" b="0" i="0" u="none" strike="noStrike" cap="non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 name="Google Shape;6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 name="Google Shape;6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 name="Google Shape;7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 name="Google Shape;8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cd2a3dae7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cd2a3dae7c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g3cd2a3dae7c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pPr marL="0" lvl="0" indent="0" algn="r" rtl="0">
                <a:spcBef>
                  <a:spcPts val="0"/>
                </a:spcBef>
                <a:spcAft>
                  <a:spcPts val="0"/>
                </a:spcAft>
                <a:buClr>
                  <a:srgbClr val="000000"/>
                </a:buClr>
                <a:buFont typeface="Arial"/>
                <a:buNone/>
              </a:p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cd2a3dae7c_0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cd2a3dae7c_0_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g3cd2a3dae7c_0_2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pPr marL="0" lvl="0" indent="0" algn="r" rtl="0">
                <a:spcBef>
                  <a:spcPts val="0"/>
                </a:spcBef>
                <a:spcAft>
                  <a:spcPts val="0"/>
                </a:spcAft>
                <a:buClr>
                  <a:srgbClr val="000000"/>
                </a:buClr>
                <a:buFont typeface="Arial"/>
                <a:buNone/>
              </a:p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cd2a3dae7c_0_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3cd2a3dae7c_0_6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g3cd2a3dae7c_0_6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pPr marL="0" lvl="0" indent="0" algn="r" rtl="0">
                <a:spcBef>
                  <a:spcPts val="0"/>
                </a:spcBef>
                <a:spcAft>
                  <a:spcPts val="0"/>
                </a:spcAft>
                <a:buClr>
                  <a:srgbClr val="000000"/>
                </a:buClr>
                <a:buFont typeface="Arial"/>
                <a:buNone/>
              </a:p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cd2a3dae7c_0_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cd2a3dae7c_0_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g3cd2a3dae7c_0_2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pPr marL="0" lvl="0" indent="0" algn="r" rtl="0">
                <a:spcBef>
                  <a:spcPts val="0"/>
                </a:spcBef>
                <a:spcAft>
                  <a:spcPts val="0"/>
                </a:spcAft>
                <a:buClr>
                  <a:srgbClr val="000000"/>
                </a:buClr>
                <a:buFont typeface="Arial"/>
                <a:buNone/>
              </a:p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cd2a3dae7c_0_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cd2a3dae7c_0_5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g3cd2a3dae7c_0_5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pPr marL="0" lvl="0" indent="0" algn="r" rtl="0">
                <a:spcBef>
                  <a:spcPts val="0"/>
                </a:spcBef>
                <a:spcAft>
                  <a:spcPts val="0"/>
                </a:spcAft>
                <a:buClr>
                  <a:srgbClr val="000000"/>
                </a:buClr>
                <a:buFont typeface="Arial"/>
                <a:buNone/>
              </a:p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 name="Google Shape;23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1 master">
  <p:cSld name="Slide 1 master">
    <p:spTree>
      <p:nvGrpSpPr>
        <p:cNvPr id="1"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AABC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0" y="0"/>
            <a:ext cx="14630400" cy="8229600"/>
          </a:xfrm>
          <a:prstGeom prst="rect">
            <a:avLst/>
          </a:prstGeom>
          <a:solidFill>
            <a:srgbClr val="FFF8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Google Shape;13;p2"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2 master">
  <p:cSld name="Slide 2 master">
    <p:spTree>
      <p:nvGrpSpPr>
        <p:cNvPr id="1" name="Shape 14"/>
        <p:cNvGrpSpPr/>
        <p:nvPr/>
      </p:nvGrpSpPr>
      <p:grpSpPr>
        <a:xfrm>
          <a:off x="0" y="0"/>
          <a:ext cx="0" cy="0"/>
          <a:chOff x="0" y="0"/>
          <a:chExt cx="0" cy="0"/>
        </a:xfrm>
      </p:grpSpPr>
      <p:sp>
        <p:nvSpPr>
          <p:cNvPr id="15" name="Google Shape;15;p3"/>
          <p:cNvSpPr/>
          <p:nvPr/>
        </p:nvSpPr>
        <p:spPr>
          <a:xfrm>
            <a:off x="0" y="0"/>
            <a:ext cx="14630400" cy="8229600"/>
          </a:xfrm>
          <a:prstGeom prst="rect">
            <a:avLst/>
          </a:prstGeom>
          <a:solidFill>
            <a:srgbClr val="AABC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p:nvPr/>
        </p:nvSpPr>
        <p:spPr>
          <a:xfrm>
            <a:off x="0" y="0"/>
            <a:ext cx="14630400" cy="8229600"/>
          </a:xfrm>
          <a:prstGeom prst="rect">
            <a:avLst/>
          </a:prstGeom>
          <a:solidFill>
            <a:srgbClr val="FFF8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 name="Google Shape;17;p3"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3 master">
  <p:cSld name="Slide 3 master">
    <p:spTree>
      <p:nvGrpSpPr>
        <p:cNvPr id="1" name="Shape 18"/>
        <p:cNvGrpSpPr/>
        <p:nvPr/>
      </p:nvGrpSpPr>
      <p:grpSpPr>
        <a:xfrm>
          <a:off x="0" y="0"/>
          <a:ext cx="0" cy="0"/>
          <a:chOff x="0" y="0"/>
          <a:chExt cx="0" cy="0"/>
        </a:xfrm>
      </p:grpSpPr>
      <p:sp>
        <p:nvSpPr>
          <p:cNvPr id="19" name="Google Shape;19;p4"/>
          <p:cNvSpPr/>
          <p:nvPr/>
        </p:nvSpPr>
        <p:spPr>
          <a:xfrm>
            <a:off x="0" y="0"/>
            <a:ext cx="14630400" cy="8229600"/>
          </a:xfrm>
          <a:prstGeom prst="rect">
            <a:avLst/>
          </a:prstGeom>
          <a:solidFill>
            <a:srgbClr val="AABC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0" y="0"/>
            <a:ext cx="14630400" cy="8229600"/>
          </a:xfrm>
          <a:prstGeom prst="rect">
            <a:avLst/>
          </a:prstGeom>
          <a:solidFill>
            <a:srgbClr val="FFF8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Google Shape;21;p4"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ide 4 master">
  <p:cSld name="Slide 4 master">
    <p:spTree>
      <p:nvGrpSpPr>
        <p:cNvPr id="1" name="Shape 22"/>
        <p:cNvGrpSpPr/>
        <p:nvPr/>
      </p:nvGrpSpPr>
      <p:grpSpPr>
        <a:xfrm>
          <a:off x="0" y="0"/>
          <a:ext cx="0" cy="0"/>
          <a:chOff x="0" y="0"/>
          <a:chExt cx="0" cy="0"/>
        </a:xfrm>
      </p:grpSpPr>
      <p:sp>
        <p:nvSpPr>
          <p:cNvPr id="23" name="Google Shape;23;p5"/>
          <p:cNvSpPr/>
          <p:nvPr/>
        </p:nvSpPr>
        <p:spPr>
          <a:xfrm>
            <a:off x="0" y="0"/>
            <a:ext cx="14630400" cy="8229600"/>
          </a:xfrm>
          <a:prstGeom prst="rect">
            <a:avLst/>
          </a:prstGeom>
          <a:solidFill>
            <a:srgbClr val="AABC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5"/>
          <p:cNvSpPr/>
          <p:nvPr/>
        </p:nvSpPr>
        <p:spPr>
          <a:xfrm>
            <a:off x="0" y="0"/>
            <a:ext cx="14630400" cy="8229600"/>
          </a:xfrm>
          <a:prstGeom prst="rect">
            <a:avLst/>
          </a:prstGeom>
          <a:solidFill>
            <a:srgbClr val="FFF8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 name="Google Shape;25;p5"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lide 5 master">
  <p:cSld name="Slide 5 master">
    <p:spTree>
      <p:nvGrpSpPr>
        <p:cNvPr id="1" name="Shape 26"/>
        <p:cNvGrpSpPr/>
        <p:nvPr/>
      </p:nvGrpSpPr>
      <p:grpSpPr>
        <a:xfrm>
          <a:off x="0" y="0"/>
          <a:ext cx="0" cy="0"/>
          <a:chOff x="0" y="0"/>
          <a:chExt cx="0" cy="0"/>
        </a:xfrm>
      </p:grpSpPr>
      <p:sp>
        <p:nvSpPr>
          <p:cNvPr id="27" name="Google Shape;27;p6"/>
          <p:cNvSpPr/>
          <p:nvPr/>
        </p:nvSpPr>
        <p:spPr>
          <a:xfrm>
            <a:off x="0" y="0"/>
            <a:ext cx="14630400" cy="8229600"/>
          </a:xfrm>
          <a:prstGeom prst="rect">
            <a:avLst/>
          </a:prstGeom>
          <a:solidFill>
            <a:srgbClr val="AABC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6"/>
          <p:cNvSpPr/>
          <p:nvPr/>
        </p:nvSpPr>
        <p:spPr>
          <a:xfrm>
            <a:off x="0" y="0"/>
            <a:ext cx="14630400" cy="8229600"/>
          </a:xfrm>
          <a:prstGeom prst="rect">
            <a:avLst/>
          </a:prstGeom>
          <a:solidFill>
            <a:srgbClr val="FFF8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 name="Google Shape;29;p6"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lide 6 master">
  <p:cSld name="Slide 6 master">
    <p:spTree>
      <p:nvGrpSpPr>
        <p:cNvPr id="1" name="Shape 30"/>
        <p:cNvGrpSpPr/>
        <p:nvPr/>
      </p:nvGrpSpPr>
      <p:grpSpPr>
        <a:xfrm>
          <a:off x="0" y="0"/>
          <a:ext cx="0" cy="0"/>
          <a:chOff x="0" y="0"/>
          <a:chExt cx="0" cy="0"/>
        </a:xfrm>
      </p:grpSpPr>
      <p:sp>
        <p:nvSpPr>
          <p:cNvPr id="31" name="Google Shape;31;p7"/>
          <p:cNvSpPr/>
          <p:nvPr/>
        </p:nvSpPr>
        <p:spPr>
          <a:xfrm>
            <a:off x="0" y="0"/>
            <a:ext cx="14630400" cy="8229600"/>
          </a:xfrm>
          <a:prstGeom prst="rect">
            <a:avLst/>
          </a:prstGeom>
          <a:solidFill>
            <a:srgbClr val="AABC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7"/>
          <p:cNvSpPr/>
          <p:nvPr/>
        </p:nvSpPr>
        <p:spPr>
          <a:xfrm>
            <a:off x="0" y="0"/>
            <a:ext cx="14630400" cy="8229600"/>
          </a:xfrm>
          <a:prstGeom prst="rect">
            <a:avLst/>
          </a:prstGeom>
          <a:solidFill>
            <a:srgbClr val="FFF8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 name="Google Shape;33;p7"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lide 7 master">
  <p:cSld name="Slide 7 master">
    <p:spTree>
      <p:nvGrpSpPr>
        <p:cNvPr id="1" name="Shape 34"/>
        <p:cNvGrpSpPr/>
        <p:nvPr/>
      </p:nvGrpSpPr>
      <p:grpSpPr>
        <a:xfrm>
          <a:off x="0" y="0"/>
          <a:ext cx="0" cy="0"/>
          <a:chOff x="0" y="0"/>
          <a:chExt cx="0" cy="0"/>
        </a:xfrm>
      </p:grpSpPr>
      <p:sp>
        <p:nvSpPr>
          <p:cNvPr id="35" name="Google Shape;35;p8"/>
          <p:cNvSpPr/>
          <p:nvPr/>
        </p:nvSpPr>
        <p:spPr>
          <a:xfrm>
            <a:off x="0" y="0"/>
            <a:ext cx="14630400" cy="8229600"/>
          </a:xfrm>
          <a:prstGeom prst="rect">
            <a:avLst/>
          </a:prstGeom>
          <a:solidFill>
            <a:srgbClr val="AABC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8"/>
          <p:cNvSpPr/>
          <p:nvPr/>
        </p:nvSpPr>
        <p:spPr>
          <a:xfrm>
            <a:off x="0" y="0"/>
            <a:ext cx="14630400" cy="8229600"/>
          </a:xfrm>
          <a:prstGeom prst="rect">
            <a:avLst/>
          </a:prstGeom>
          <a:solidFill>
            <a:srgbClr val="FFF8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 name="Google Shape;37;p8"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lide 8 master">
  <p:cSld name="Slide 8 master">
    <p:spTree>
      <p:nvGrpSpPr>
        <p:cNvPr id="1" name="Shape 38"/>
        <p:cNvGrpSpPr/>
        <p:nvPr/>
      </p:nvGrpSpPr>
      <p:grpSpPr>
        <a:xfrm>
          <a:off x="0" y="0"/>
          <a:ext cx="0" cy="0"/>
          <a:chOff x="0" y="0"/>
          <a:chExt cx="0" cy="0"/>
        </a:xfrm>
      </p:grpSpPr>
      <p:sp>
        <p:nvSpPr>
          <p:cNvPr id="39" name="Google Shape;39;p9"/>
          <p:cNvSpPr/>
          <p:nvPr/>
        </p:nvSpPr>
        <p:spPr>
          <a:xfrm>
            <a:off x="0" y="0"/>
            <a:ext cx="14630400" cy="8229600"/>
          </a:xfrm>
          <a:prstGeom prst="rect">
            <a:avLst/>
          </a:prstGeom>
          <a:solidFill>
            <a:srgbClr val="AABC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9"/>
          <p:cNvSpPr/>
          <p:nvPr/>
        </p:nvSpPr>
        <p:spPr>
          <a:xfrm>
            <a:off x="0" y="0"/>
            <a:ext cx="14630400" cy="8229600"/>
          </a:xfrm>
          <a:prstGeom prst="rect">
            <a:avLst/>
          </a:prstGeom>
          <a:solidFill>
            <a:srgbClr val="FFF8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 name="Google Shape;41;p9"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lide 9 master">
  <p:cSld name="Slide 9 master">
    <p:spTree>
      <p:nvGrpSpPr>
        <p:cNvPr id="1" name="Shape 42"/>
        <p:cNvGrpSpPr/>
        <p:nvPr/>
      </p:nvGrpSpPr>
      <p:grpSpPr>
        <a:xfrm>
          <a:off x="0" y="0"/>
          <a:ext cx="0" cy="0"/>
          <a:chOff x="0" y="0"/>
          <a:chExt cx="0" cy="0"/>
        </a:xfrm>
      </p:grpSpPr>
      <p:sp>
        <p:nvSpPr>
          <p:cNvPr id="43" name="Google Shape;43;p10"/>
          <p:cNvSpPr/>
          <p:nvPr/>
        </p:nvSpPr>
        <p:spPr>
          <a:xfrm>
            <a:off x="0" y="0"/>
            <a:ext cx="14630400" cy="8229600"/>
          </a:xfrm>
          <a:prstGeom prst="rect">
            <a:avLst/>
          </a:prstGeom>
          <a:solidFill>
            <a:srgbClr val="AABC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10"/>
          <p:cNvSpPr/>
          <p:nvPr/>
        </p:nvSpPr>
        <p:spPr>
          <a:xfrm>
            <a:off x="0" y="0"/>
            <a:ext cx="14630400" cy="8229600"/>
          </a:xfrm>
          <a:prstGeom prst="rect">
            <a:avLst/>
          </a:prstGeom>
          <a:solidFill>
            <a:srgbClr val="FFF8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 name="Google Shape;45;p10"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lide 10 master">
  <p:cSld name="Slide 10 master">
    <p:spTree>
      <p:nvGrpSpPr>
        <p:cNvPr id="1" name="Shape 46"/>
        <p:cNvGrpSpPr/>
        <p:nvPr/>
      </p:nvGrpSpPr>
      <p:grpSpPr>
        <a:xfrm>
          <a:off x="0" y="0"/>
          <a:ext cx="0" cy="0"/>
          <a:chOff x="0" y="0"/>
          <a:chExt cx="0" cy="0"/>
        </a:xfrm>
      </p:grpSpPr>
      <p:sp>
        <p:nvSpPr>
          <p:cNvPr id="47" name="Google Shape;47;p11"/>
          <p:cNvSpPr/>
          <p:nvPr/>
        </p:nvSpPr>
        <p:spPr>
          <a:xfrm>
            <a:off x="0" y="0"/>
            <a:ext cx="14630400" cy="8229600"/>
          </a:xfrm>
          <a:prstGeom prst="rect">
            <a:avLst/>
          </a:prstGeom>
          <a:solidFill>
            <a:srgbClr val="AABC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11"/>
          <p:cNvSpPr/>
          <p:nvPr/>
        </p:nvSpPr>
        <p:spPr>
          <a:xfrm>
            <a:off x="0" y="0"/>
            <a:ext cx="14630400" cy="8229600"/>
          </a:xfrm>
          <a:prstGeom prst="rect">
            <a:avLst/>
          </a:prstGeom>
          <a:solidFill>
            <a:srgbClr val="FFF8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 name="Google Shape;49;p11"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lide 11 master">
  <p:cSld name="Slide 11 master">
    <p:spTree>
      <p:nvGrpSpPr>
        <p:cNvPr id="1" name="Shape 50"/>
        <p:cNvGrpSpPr/>
        <p:nvPr/>
      </p:nvGrpSpPr>
      <p:grpSpPr>
        <a:xfrm>
          <a:off x="0" y="0"/>
          <a:ext cx="0" cy="0"/>
          <a:chOff x="0" y="0"/>
          <a:chExt cx="0" cy="0"/>
        </a:xfrm>
      </p:grpSpPr>
      <p:sp>
        <p:nvSpPr>
          <p:cNvPr id="51" name="Google Shape;51;p12"/>
          <p:cNvSpPr/>
          <p:nvPr/>
        </p:nvSpPr>
        <p:spPr>
          <a:xfrm>
            <a:off x="0" y="0"/>
            <a:ext cx="14630400" cy="8229600"/>
          </a:xfrm>
          <a:prstGeom prst="rect">
            <a:avLst/>
          </a:prstGeom>
          <a:solidFill>
            <a:srgbClr val="AABC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2"/>
          <p:cNvSpPr/>
          <p:nvPr/>
        </p:nvSpPr>
        <p:spPr>
          <a:xfrm>
            <a:off x="0" y="0"/>
            <a:ext cx="14630400" cy="8229600"/>
          </a:xfrm>
          <a:prstGeom prst="rect">
            <a:avLst/>
          </a:prstGeom>
          <a:solidFill>
            <a:srgbClr val="FFF8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3" name="Google Shape;53;p12"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lide 12 master">
  <p:cSld name="Slide 12 master">
    <p:spTree>
      <p:nvGrpSpPr>
        <p:cNvPr id="1" name="Shape 54"/>
        <p:cNvGrpSpPr/>
        <p:nvPr/>
      </p:nvGrpSpPr>
      <p:grpSpPr>
        <a:xfrm>
          <a:off x="0" y="0"/>
          <a:ext cx="0" cy="0"/>
          <a:chOff x="0" y="0"/>
          <a:chExt cx="0" cy="0"/>
        </a:xfrm>
      </p:grpSpPr>
      <p:sp>
        <p:nvSpPr>
          <p:cNvPr id="55" name="Google Shape;55;p13"/>
          <p:cNvSpPr/>
          <p:nvPr/>
        </p:nvSpPr>
        <p:spPr>
          <a:xfrm>
            <a:off x="0" y="0"/>
            <a:ext cx="14630400" cy="8229600"/>
          </a:xfrm>
          <a:prstGeom prst="rect">
            <a:avLst/>
          </a:prstGeom>
          <a:solidFill>
            <a:srgbClr val="AABC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3"/>
          <p:cNvSpPr/>
          <p:nvPr/>
        </p:nvSpPr>
        <p:spPr>
          <a:xfrm>
            <a:off x="0" y="0"/>
            <a:ext cx="14630400" cy="8229600"/>
          </a:xfrm>
          <a:prstGeom prst="rect">
            <a:avLst/>
          </a:prstGeom>
          <a:solidFill>
            <a:srgbClr val="FFF8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7" name="Google Shape;57;p13" descr="preencoded.png">
            <a:hlinkClick r:id="rId2"/>
          </p:cNvPr>
          <p:cNvPicPr preferRelativeResize="0"/>
          <p:nvPr/>
        </p:nvPicPr>
        <p:blipFill rotWithShape="1">
          <a:blip r:embed="rId3">
            <a:alphaModFix/>
          </a:blip>
          <a:srcRect/>
          <a:stretch/>
        </p:blipFill>
        <p:spPr>
          <a:xfrm>
            <a:off x="12839215" y="7749540"/>
            <a:ext cx="1722605" cy="41148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5"/>
          <p:cNvSpPr/>
          <p:nvPr/>
        </p:nvSpPr>
        <p:spPr>
          <a:xfrm>
            <a:off x="793790" y="2391013"/>
            <a:ext cx="7556421" cy="2126337"/>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2C3F42"/>
              </a:buClr>
              <a:buSzPts val="4450"/>
              <a:buFont typeface="Bitter"/>
              <a:buNone/>
            </a:pPr>
            <a:r>
              <a:rPr lang="en-US" sz="4450" b="0" i="0" u="none" strike="noStrike" cap="none">
                <a:solidFill>
                  <a:srgbClr val="2C3F42"/>
                </a:solidFill>
                <a:latin typeface="Bitter"/>
                <a:ea typeface="Bitter"/>
                <a:cs typeface="Bitter"/>
                <a:sym typeface="Bitter"/>
              </a:rPr>
              <a:t>Uncovering the Indian Batting Downfall (2015–2025)</a:t>
            </a:r>
            <a:endParaRPr sz="4450" b="0" i="0" u="none" strike="noStrike" cap="none"/>
          </a:p>
        </p:txBody>
      </p:sp>
      <p:sp>
        <p:nvSpPr>
          <p:cNvPr id="65" name="Google Shape;65;p15"/>
          <p:cNvSpPr/>
          <p:nvPr/>
        </p:nvSpPr>
        <p:spPr>
          <a:xfrm>
            <a:off x="793790" y="4857512"/>
            <a:ext cx="7556421" cy="362903"/>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0" i="0" u="none" strike="noStrike" cap="none">
                <a:solidFill>
                  <a:srgbClr val="2B2E3C"/>
                </a:solidFill>
                <a:latin typeface="Open Sans"/>
                <a:ea typeface="Open Sans"/>
                <a:cs typeface="Open Sans"/>
                <a:sym typeface="Open Sans"/>
              </a:rPr>
              <a:t>A Machine Learning Analysis of Home Performance Trends</a:t>
            </a:r>
            <a:endParaRPr sz="1750" b="0" i="0" u="none" strike="noStrike" cap="none"/>
          </a:p>
        </p:txBody>
      </p:sp>
      <p:sp>
        <p:nvSpPr>
          <p:cNvPr id="66" name="Google Shape;66;p15"/>
          <p:cNvSpPr/>
          <p:nvPr/>
        </p:nvSpPr>
        <p:spPr>
          <a:xfrm>
            <a:off x="793790" y="5475565"/>
            <a:ext cx="7556421" cy="362903"/>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0" i="0" u="none" strike="noStrike" cap="none">
                <a:solidFill>
                  <a:srgbClr val="2B2E3C"/>
                </a:solidFill>
                <a:latin typeface="Open Sans"/>
                <a:ea typeface="Open Sans"/>
                <a:cs typeface="Open Sans"/>
                <a:sym typeface="Open Sans"/>
              </a:rPr>
              <a:t>Kotteda Gaurav | MBA-IT | Fundamentals of Data Science Project</a:t>
            </a:r>
            <a:endParaRPr sz="1750" b="0" i="0" u="none" strike="noStrike" cap="none"/>
          </a:p>
        </p:txBody>
      </p:sp>
      <p:pic>
        <p:nvPicPr>
          <p:cNvPr id="67" name="Google Shape;67;p15" descr="make look like 4k picture "/>
          <p:cNvPicPr preferRelativeResize="0"/>
          <p:nvPr/>
        </p:nvPicPr>
        <p:blipFill>
          <a:blip r:embed="rId3">
            <a:alphaModFix/>
          </a:blip>
          <a:stretch>
            <a:fillRect/>
          </a:stretch>
        </p:blipFill>
        <p:spPr>
          <a:xfrm>
            <a:off x="7840750" y="1145600"/>
            <a:ext cx="6346825" cy="6331775"/>
          </a:xfrm>
          <a:prstGeom prst="rect">
            <a:avLst/>
          </a:prstGeom>
          <a:noFill/>
          <a:ln>
            <a:noFill/>
          </a:ln>
        </p:spPr>
      </p:pic>
      <p:pic>
        <p:nvPicPr>
          <p:cNvPr id="68" name="Google Shape;68;p15"/>
          <p:cNvPicPr preferRelativeResize="0"/>
          <p:nvPr/>
        </p:nvPicPr>
        <p:blipFill>
          <a:blip r:embed="rId4">
            <a:alphaModFix/>
          </a:blip>
          <a:stretch>
            <a:fillRect/>
          </a:stretch>
        </p:blipFill>
        <p:spPr>
          <a:xfrm>
            <a:off x="12789403" y="7778150"/>
            <a:ext cx="1841000" cy="371475"/>
          </a:xfrm>
          <a:prstGeom prst="rect">
            <a:avLst/>
          </a:prstGeom>
          <a:noFill/>
          <a:ln>
            <a:noFill/>
          </a:ln>
        </p:spPr>
      </p:pic>
      <p:sp>
        <p:nvSpPr>
          <p:cNvPr id="69" name="Google Shape;69;p15"/>
          <p:cNvSpPr txBox="1"/>
          <p:nvPr/>
        </p:nvSpPr>
        <p:spPr>
          <a:xfrm>
            <a:off x="676300" y="5941875"/>
            <a:ext cx="2657100" cy="371400"/>
          </a:xfrm>
          <a:prstGeom prst="rect">
            <a:avLst/>
          </a:prstGeom>
          <a:noFill/>
          <a:ln>
            <a:noFill/>
          </a:ln>
        </p:spPr>
        <p:txBody>
          <a:bodyPr spcFirstLastPara="1" wrap="square" lIns="91425" tIns="91425" rIns="91425" bIns="91425" anchor="t" anchorCtr="0">
            <a:noAutofit/>
          </a:bodyPr>
          <a:lstStyle/>
          <a:p>
            <a:pPr marL="0" lvl="0" indent="0" algn="l" rtl="0">
              <a:lnSpc>
                <a:spcPct val="162857"/>
              </a:lnSpc>
              <a:spcBef>
                <a:spcPts val="0"/>
              </a:spcBef>
              <a:spcAft>
                <a:spcPts val="0"/>
              </a:spcAft>
              <a:buClr>
                <a:srgbClr val="2B2E3C"/>
              </a:buClr>
              <a:buSzPts val="1750"/>
              <a:buFont typeface="Open Sans"/>
              <a:buNone/>
            </a:pPr>
            <a:r>
              <a:rPr lang="en-US" sz="1750">
                <a:solidFill>
                  <a:srgbClr val="2B2E3C"/>
                </a:solidFill>
                <a:latin typeface="Open Sans"/>
                <a:ea typeface="Open Sans"/>
                <a:cs typeface="Open Sans"/>
                <a:sym typeface="Open Sans"/>
              </a:rPr>
              <a:t>PRN: 25030141024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pic>
        <p:nvPicPr>
          <p:cNvPr id="75" name="Google Shape;75;p16" descr="preencoded.png"/>
          <p:cNvPicPr preferRelativeResize="0"/>
          <p:nvPr/>
        </p:nvPicPr>
        <p:blipFill rotWithShape="1">
          <a:blip r:embed="rId3">
            <a:alphaModFix/>
          </a:blip>
          <a:srcRect/>
          <a:stretch/>
        </p:blipFill>
        <p:spPr>
          <a:xfrm>
            <a:off x="793790" y="2151459"/>
            <a:ext cx="5972770" cy="3359587"/>
          </a:xfrm>
          <a:prstGeom prst="rect">
            <a:avLst/>
          </a:prstGeom>
          <a:noFill/>
          <a:ln>
            <a:noFill/>
          </a:ln>
        </p:spPr>
      </p:pic>
      <p:sp>
        <p:nvSpPr>
          <p:cNvPr id="76" name="Google Shape;76;p16"/>
          <p:cNvSpPr/>
          <p:nvPr/>
        </p:nvSpPr>
        <p:spPr>
          <a:xfrm>
            <a:off x="793790" y="5766197"/>
            <a:ext cx="5972770" cy="362903"/>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SzPts val="1750"/>
              <a:buFont typeface="Arial"/>
              <a:buNone/>
            </a:pPr>
            <a:endParaRPr sz="1750" b="0" i="0" u="none" strike="noStrike" cap="none"/>
          </a:p>
        </p:txBody>
      </p:sp>
      <p:sp>
        <p:nvSpPr>
          <p:cNvPr id="77" name="Google Shape;77;p16"/>
          <p:cNvSpPr/>
          <p:nvPr/>
        </p:nvSpPr>
        <p:spPr>
          <a:xfrm>
            <a:off x="7327583" y="1038820"/>
            <a:ext cx="5670590" cy="708779"/>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2C3F42"/>
              </a:buClr>
              <a:buSzPts val="4450"/>
              <a:buFont typeface="Bitter"/>
              <a:buNone/>
            </a:pPr>
            <a:r>
              <a:rPr lang="en-US" sz="4450" b="0" i="0" u="none" strike="noStrike" cap="none">
                <a:solidFill>
                  <a:srgbClr val="2C3F42"/>
                </a:solidFill>
                <a:latin typeface="Bitter"/>
                <a:ea typeface="Bitter"/>
                <a:cs typeface="Bitter"/>
                <a:sym typeface="Bitter"/>
              </a:rPr>
              <a:t>Introduction</a:t>
            </a:r>
            <a:endParaRPr sz="4450" b="0" i="0" u="none" strike="noStrike" cap="none"/>
          </a:p>
        </p:txBody>
      </p:sp>
      <p:sp>
        <p:nvSpPr>
          <p:cNvPr id="78" name="Google Shape;78;p16"/>
          <p:cNvSpPr/>
          <p:nvPr/>
        </p:nvSpPr>
        <p:spPr>
          <a:xfrm>
            <a:off x="7327583" y="1974413"/>
            <a:ext cx="6516529" cy="4672013"/>
          </a:xfrm>
          <a:prstGeom prst="rect">
            <a:avLst/>
          </a:prstGeom>
          <a:noFill/>
          <a:ln>
            <a:noFill/>
          </a:ln>
        </p:spPr>
        <p:txBody>
          <a:bodyPr spcFirstLastPara="1" wrap="square" lIns="0" tIns="0" rIns="0" bIns="0" anchor="t" anchorCtr="0">
            <a:noAutofit/>
          </a:bodyPr>
          <a:lstStyle/>
          <a:p>
            <a:pPr marL="342900" marR="0" lvl="0" indent="-342900" algn="l" rtl="0">
              <a:lnSpc>
                <a:spcPct val="162857"/>
              </a:lnSpc>
              <a:spcBef>
                <a:spcPts val="0"/>
              </a:spcBef>
              <a:spcAft>
                <a:spcPts val="0"/>
              </a:spcAft>
              <a:buClr>
                <a:srgbClr val="2B2E3C"/>
              </a:buClr>
              <a:buSzPts val="1750"/>
              <a:buFont typeface="Open Sans"/>
              <a:buChar char="•"/>
            </a:pPr>
            <a:r>
              <a:rPr lang="en-US" sz="1750" b="0" i="0" u="none" strike="noStrike" cap="none">
                <a:solidFill>
                  <a:srgbClr val="2B2E3C"/>
                </a:solidFill>
                <a:latin typeface="Open Sans"/>
                <a:ea typeface="Open Sans"/>
                <a:cs typeface="Open Sans"/>
                <a:sym typeface="Open Sans"/>
              </a:rPr>
              <a:t>India has historically been dominant in home Test cricket due to familiar and spin-friendly conditions.</a:t>
            </a:r>
            <a:endParaRPr sz="1750" b="0" i="0" u="none" strike="noStrike" cap="none"/>
          </a:p>
          <a:p>
            <a:pPr marL="342900" marR="0" lvl="0" indent="-342900" algn="l" rtl="0">
              <a:lnSpc>
                <a:spcPct val="162857"/>
              </a:lnSpc>
              <a:spcBef>
                <a:spcPts val="0"/>
              </a:spcBef>
              <a:spcAft>
                <a:spcPts val="0"/>
              </a:spcAft>
              <a:buClr>
                <a:srgbClr val="2B2E3C"/>
              </a:buClr>
              <a:buSzPts val="1750"/>
              <a:buFont typeface="Open Sans"/>
              <a:buChar char="•"/>
            </a:pPr>
            <a:r>
              <a:rPr lang="en-US" sz="1750" b="0" i="0" u="none" strike="noStrike" cap="none">
                <a:solidFill>
                  <a:srgbClr val="2B2E3C"/>
                </a:solidFill>
                <a:latin typeface="Open Sans"/>
                <a:ea typeface="Open Sans"/>
                <a:cs typeface="Open Sans"/>
                <a:sym typeface="Open Sans"/>
              </a:rPr>
              <a:t>From 2017–2024, India hosted major Test series against teams like the Australia national cricket team, England cricket team, New Zealand national cricket team, and South Africa national cricket team.</a:t>
            </a:r>
            <a:endParaRPr sz="1750" b="0" i="0" u="none" strike="noStrike" cap="none"/>
          </a:p>
          <a:p>
            <a:pPr marL="342900" marR="0" lvl="0" indent="-342900" algn="l" rtl="0">
              <a:lnSpc>
                <a:spcPct val="162857"/>
              </a:lnSpc>
              <a:spcBef>
                <a:spcPts val="0"/>
              </a:spcBef>
              <a:spcAft>
                <a:spcPts val="0"/>
              </a:spcAft>
              <a:buClr>
                <a:srgbClr val="2B2E3C"/>
              </a:buClr>
              <a:buSzPts val="1750"/>
              <a:buFont typeface="Open Sans"/>
              <a:buChar char="•"/>
            </a:pPr>
            <a:r>
              <a:rPr lang="en-US" sz="1750" b="0" i="0" u="none" strike="noStrike" cap="none">
                <a:solidFill>
                  <a:srgbClr val="2B2E3C"/>
                </a:solidFill>
                <a:latin typeface="Open Sans"/>
                <a:ea typeface="Open Sans"/>
                <a:cs typeface="Open Sans"/>
                <a:sym typeface="Open Sans"/>
              </a:rPr>
              <a:t>India maintained a very strong win record at home during this period.</a:t>
            </a:r>
            <a:endParaRPr sz="1750" b="0" i="0" u="none" strike="noStrike" cap="none"/>
          </a:p>
          <a:p>
            <a:pPr marL="342900" marR="0" lvl="0" indent="-342900" algn="l" rtl="0">
              <a:lnSpc>
                <a:spcPct val="162857"/>
              </a:lnSpc>
              <a:spcBef>
                <a:spcPts val="0"/>
              </a:spcBef>
              <a:spcAft>
                <a:spcPts val="0"/>
              </a:spcAft>
              <a:buClr>
                <a:srgbClr val="2B2E3C"/>
              </a:buClr>
              <a:buSzPts val="1750"/>
              <a:buFont typeface="Open Sans"/>
              <a:buChar char="•"/>
            </a:pPr>
            <a:r>
              <a:rPr lang="en-US" sz="1750" b="0" i="0" u="none" strike="noStrike" cap="none">
                <a:solidFill>
                  <a:srgbClr val="2B2E3C"/>
                </a:solidFill>
                <a:latin typeface="Open Sans"/>
                <a:ea typeface="Open Sans"/>
                <a:cs typeface="Open Sans"/>
                <a:sym typeface="Open Sans"/>
              </a:rPr>
              <a:t>However, recent matches show inconsistent batting and lower team totals.</a:t>
            </a:r>
            <a:endParaRPr sz="1750" b="0" i="0" u="none" strike="noStrike" cap="none"/>
          </a:p>
          <a:p>
            <a:pPr marL="342900" marR="0" lvl="0" indent="-342900" algn="l" rtl="0">
              <a:lnSpc>
                <a:spcPct val="162857"/>
              </a:lnSpc>
              <a:spcBef>
                <a:spcPts val="0"/>
              </a:spcBef>
              <a:spcAft>
                <a:spcPts val="0"/>
              </a:spcAft>
              <a:buClr>
                <a:srgbClr val="2B2E3C"/>
              </a:buClr>
              <a:buSzPts val="1750"/>
              <a:buFont typeface="Open Sans"/>
              <a:buChar char="•"/>
            </a:pPr>
            <a:r>
              <a:rPr lang="en-US" sz="1750" b="0" i="0" u="none" strike="noStrike" cap="none">
                <a:solidFill>
                  <a:srgbClr val="2B2E3C"/>
                </a:solidFill>
                <a:latin typeface="Open Sans"/>
                <a:ea typeface="Open Sans"/>
                <a:cs typeface="Open Sans"/>
                <a:sym typeface="Open Sans"/>
              </a:rPr>
              <a:t>This makes Indian home Tests an interesting case for performance analysis.</a:t>
            </a:r>
            <a:endParaRPr sz="1750" b="0" i="0" u="none" strike="noStrike" cap="none"/>
          </a:p>
        </p:txBody>
      </p:sp>
      <p:sp>
        <p:nvSpPr>
          <p:cNvPr id="79" name="Google Shape;79;p16"/>
          <p:cNvSpPr/>
          <p:nvPr/>
        </p:nvSpPr>
        <p:spPr>
          <a:xfrm>
            <a:off x="7327583" y="6850499"/>
            <a:ext cx="6516529" cy="362903"/>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SzPts val="1750"/>
              <a:buFont typeface="Arial"/>
              <a:buNone/>
            </a:pPr>
            <a:endParaRPr sz="1750" b="0" i="0" u="none" strike="noStrike" cap="none"/>
          </a:p>
        </p:txBody>
      </p:sp>
      <p:pic>
        <p:nvPicPr>
          <p:cNvPr id="80" name="Google Shape;80;p16"/>
          <p:cNvPicPr preferRelativeResize="0"/>
          <p:nvPr/>
        </p:nvPicPr>
        <p:blipFill>
          <a:blip r:embed="rId4">
            <a:alphaModFix/>
          </a:blip>
          <a:stretch>
            <a:fillRect/>
          </a:stretch>
        </p:blipFill>
        <p:spPr>
          <a:xfrm>
            <a:off x="12789403" y="7778150"/>
            <a:ext cx="1841000" cy="371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p:nvPr/>
        </p:nvSpPr>
        <p:spPr>
          <a:xfrm>
            <a:off x="793790" y="1749028"/>
            <a:ext cx="5670590" cy="708779"/>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2C3F42"/>
              </a:buClr>
              <a:buSzPts val="4450"/>
              <a:buFont typeface="Bitter"/>
              <a:buNone/>
            </a:pPr>
            <a:r>
              <a:rPr lang="en-US" sz="4450" b="0" i="0" u="none" strike="noStrike" cap="none">
                <a:solidFill>
                  <a:srgbClr val="2C3F42"/>
                </a:solidFill>
                <a:latin typeface="Bitter"/>
                <a:ea typeface="Bitter"/>
                <a:cs typeface="Bitter"/>
                <a:sym typeface="Bitter"/>
              </a:rPr>
              <a:t>Problem Statement</a:t>
            </a:r>
            <a:endParaRPr sz="4450" b="0" i="0" u="none" strike="noStrike" cap="none"/>
          </a:p>
        </p:txBody>
      </p:sp>
      <p:sp>
        <p:nvSpPr>
          <p:cNvPr id="87" name="Google Shape;87;p17"/>
          <p:cNvSpPr/>
          <p:nvPr/>
        </p:nvSpPr>
        <p:spPr>
          <a:xfrm>
            <a:off x="793790" y="3024783"/>
            <a:ext cx="2835235" cy="35433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C3F42"/>
              </a:buClr>
              <a:buSzPts val="2200"/>
              <a:buFont typeface="Bitter"/>
              <a:buNone/>
            </a:pPr>
            <a:r>
              <a:rPr lang="en-US" sz="2200" b="0" i="0" u="none" strike="noStrike" cap="none">
                <a:solidFill>
                  <a:srgbClr val="2C3F42"/>
                </a:solidFill>
                <a:latin typeface="Bitter"/>
                <a:ea typeface="Bitter"/>
                <a:cs typeface="Bitter"/>
                <a:sym typeface="Bitter"/>
              </a:rPr>
              <a:t>The Context</a:t>
            </a:r>
            <a:endParaRPr sz="2200" b="0" i="0" u="none" strike="noStrike" cap="none"/>
          </a:p>
        </p:txBody>
      </p:sp>
      <p:sp>
        <p:nvSpPr>
          <p:cNvPr id="88" name="Google Shape;88;p17"/>
          <p:cNvSpPr/>
          <p:nvPr/>
        </p:nvSpPr>
        <p:spPr>
          <a:xfrm>
            <a:off x="793790" y="3605927"/>
            <a:ext cx="6244709" cy="1088708"/>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0" i="0" u="none" strike="noStrike" cap="none">
                <a:solidFill>
                  <a:srgbClr val="2B2E3C"/>
                </a:solidFill>
                <a:latin typeface="Open Sans"/>
                <a:ea typeface="Open Sans"/>
                <a:cs typeface="Open Sans"/>
                <a:sym typeface="Open Sans"/>
              </a:rPr>
              <a:t>India's historical dominance at home has been challenged in recent years. The fortress that once intimidated visiting teams now shows vulnerabilities.</a:t>
            </a:r>
            <a:endParaRPr sz="1750" b="0" i="0" u="none" strike="noStrike" cap="none"/>
          </a:p>
        </p:txBody>
      </p:sp>
      <p:sp>
        <p:nvSpPr>
          <p:cNvPr id="89" name="Google Shape;89;p17"/>
          <p:cNvSpPr/>
          <p:nvPr/>
        </p:nvSpPr>
        <p:spPr>
          <a:xfrm>
            <a:off x="7599521" y="3024783"/>
            <a:ext cx="2835235" cy="35433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C3F42"/>
              </a:buClr>
              <a:buSzPts val="2200"/>
              <a:buFont typeface="Bitter"/>
              <a:buNone/>
            </a:pPr>
            <a:r>
              <a:rPr lang="en-US" sz="2200" b="0" i="0" u="none" strike="noStrike" cap="none">
                <a:solidFill>
                  <a:srgbClr val="2C3F42"/>
                </a:solidFill>
                <a:latin typeface="Bitter"/>
                <a:ea typeface="Bitter"/>
                <a:cs typeface="Bitter"/>
                <a:sym typeface="Bitter"/>
              </a:rPr>
              <a:t>The Problem</a:t>
            </a:r>
            <a:endParaRPr sz="2200" b="0" i="0" u="none" strike="noStrike" cap="none"/>
          </a:p>
        </p:txBody>
      </p:sp>
      <p:sp>
        <p:nvSpPr>
          <p:cNvPr id="90" name="Google Shape;90;p17"/>
          <p:cNvSpPr/>
          <p:nvPr/>
        </p:nvSpPr>
        <p:spPr>
          <a:xfrm>
            <a:off x="7599521" y="3605927"/>
            <a:ext cx="6244709" cy="1088708"/>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0" i="0" u="none" strike="noStrike" cap="none">
                <a:solidFill>
                  <a:srgbClr val="2B2E3C"/>
                </a:solidFill>
                <a:latin typeface="Open Sans"/>
                <a:ea typeface="Open Sans"/>
                <a:cs typeface="Open Sans"/>
                <a:sym typeface="Open Sans"/>
              </a:rPr>
              <a:t>High-profile batting averages have dipped significantly, and innings totals are shrinking. What was once a 400+ average first innings score is now frequently below 300.</a:t>
            </a:r>
            <a:endParaRPr sz="1750" b="0" i="0" u="none" strike="noStrike" cap="none"/>
          </a:p>
        </p:txBody>
      </p:sp>
      <p:sp>
        <p:nvSpPr>
          <p:cNvPr id="91" name="Google Shape;91;p17"/>
          <p:cNvSpPr/>
          <p:nvPr/>
        </p:nvSpPr>
        <p:spPr>
          <a:xfrm>
            <a:off x="793790" y="5153858"/>
            <a:ext cx="13042821" cy="1326713"/>
          </a:xfrm>
          <a:prstGeom prst="roundRect">
            <a:avLst>
              <a:gd name="adj" fmla="val 7181"/>
            </a:avLst>
          </a:prstGeom>
          <a:solidFill>
            <a:srgbClr val="FAD3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2" name="Google Shape;92;p17" descr="preencoded.png"/>
          <p:cNvPicPr preferRelativeResize="0"/>
          <p:nvPr/>
        </p:nvPicPr>
        <p:blipFill rotWithShape="1">
          <a:blip r:embed="rId3">
            <a:alphaModFix/>
          </a:blip>
          <a:srcRect/>
          <a:stretch/>
        </p:blipFill>
        <p:spPr>
          <a:xfrm>
            <a:off x="1020604" y="5505569"/>
            <a:ext cx="283488" cy="226814"/>
          </a:xfrm>
          <a:prstGeom prst="rect">
            <a:avLst/>
          </a:prstGeom>
          <a:noFill/>
          <a:ln>
            <a:noFill/>
          </a:ln>
        </p:spPr>
      </p:pic>
      <p:sp>
        <p:nvSpPr>
          <p:cNvPr id="93" name="Google Shape;93;p17"/>
          <p:cNvSpPr/>
          <p:nvPr/>
        </p:nvSpPr>
        <p:spPr>
          <a:xfrm>
            <a:off x="1530906" y="5437346"/>
            <a:ext cx="12078891" cy="725805"/>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000000"/>
              </a:buClr>
              <a:buSzPts val="1750"/>
              <a:buFont typeface="Open Sans"/>
              <a:buNone/>
            </a:pPr>
            <a:r>
              <a:rPr lang="en-US" sz="1750" b="1" i="0" u="none" strike="noStrike" cap="none">
                <a:solidFill>
                  <a:srgbClr val="000000"/>
                </a:solidFill>
                <a:latin typeface="Open Sans"/>
                <a:ea typeface="Open Sans"/>
                <a:cs typeface="Open Sans"/>
                <a:sym typeface="Open Sans"/>
              </a:rPr>
              <a:t>The Question:</a:t>
            </a:r>
            <a:r>
              <a:rPr lang="en-US" sz="1750" b="0" i="0" u="none" strike="noStrike" cap="none">
                <a:solidFill>
                  <a:srgbClr val="000000"/>
                </a:solidFill>
                <a:latin typeface="Open Sans"/>
                <a:ea typeface="Open Sans"/>
                <a:cs typeface="Open Sans"/>
                <a:sym typeface="Open Sans"/>
              </a:rPr>
              <a:t> Is this due to worsening pitch conditions, tactical shifts from T20 influence, or specific technical weaknesses against spin bowling?</a:t>
            </a:r>
            <a:endParaRPr sz="1750" b="0" i="0" u="none" strike="noStrike" cap="none"/>
          </a:p>
        </p:txBody>
      </p:sp>
      <p:pic>
        <p:nvPicPr>
          <p:cNvPr id="94" name="Google Shape;94;p17"/>
          <p:cNvPicPr preferRelativeResize="0"/>
          <p:nvPr/>
        </p:nvPicPr>
        <p:blipFill>
          <a:blip r:embed="rId4">
            <a:alphaModFix/>
          </a:blip>
          <a:stretch>
            <a:fillRect/>
          </a:stretch>
        </p:blipFill>
        <p:spPr>
          <a:xfrm>
            <a:off x="12789403" y="7778150"/>
            <a:ext cx="1841000" cy="3714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9"/>
        <p:cNvGrpSpPr/>
        <p:nvPr/>
      </p:nvGrpSpPr>
      <p:grpSpPr>
        <a:xfrm>
          <a:off x="0" y="0"/>
          <a:ext cx="0" cy="0"/>
          <a:chOff x="0" y="0"/>
          <a:chExt cx="0" cy="0"/>
        </a:xfrm>
      </p:grpSpPr>
      <p:pic>
        <p:nvPicPr>
          <p:cNvPr id="100" name="Google Shape;100;p18"/>
          <p:cNvPicPr preferRelativeResize="0"/>
          <p:nvPr/>
        </p:nvPicPr>
        <p:blipFill>
          <a:blip r:embed="rId3">
            <a:alphaModFix/>
          </a:blip>
          <a:stretch>
            <a:fillRect/>
          </a:stretch>
        </p:blipFill>
        <p:spPr>
          <a:xfrm>
            <a:off x="12789403" y="7778150"/>
            <a:ext cx="1841000" cy="371475"/>
          </a:xfrm>
          <a:prstGeom prst="rect">
            <a:avLst/>
          </a:prstGeom>
          <a:noFill/>
          <a:ln>
            <a:noFill/>
          </a:ln>
        </p:spPr>
      </p:pic>
      <p:sp>
        <p:nvSpPr>
          <p:cNvPr id="101" name="Google Shape;101;p18"/>
          <p:cNvSpPr/>
          <p:nvPr/>
        </p:nvSpPr>
        <p:spPr>
          <a:xfrm>
            <a:off x="1169050" y="2170273"/>
            <a:ext cx="2712000" cy="1602000"/>
          </a:xfrm>
          <a:prstGeom prst="roundRect">
            <a:avLst>
              <a:gd name="adj" fmla="val 3224"/>
            </a:avLst>
          </a:prstGeom>
          <a:solidFill>
            <a:srgbClr val="FCE2CF"/>
          </a:solidFill>
          <a:ln w="9525" cap="flat" cmpd="sng">
            <a:solidFill>
              <a:srgbClr val="E2C8B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a:latin typeface="Georgia"/>
                <a:ea typeface="Georgia"/>
                <a:cs typeface="Georgia"/>
                <a:sym typeface="Georgia"/>
              </a:rPr>
              <a:t>Data Ingestion and Cleaning</a:t>
            </a:r>
            <a:endParaRPr sz="2100">
              <a:latin typeface="Georgia"/>
              <a:ea typeface="Georgia"/>
              <a:cs typeface="Georgia"/>
              <a:sym typeface="Georgia"/>
            </a:endParaRPr>
          </a:p>
        </p:txBody>
      </p:sp>
      <p:sp>
        <p:nvSpPr>
          <p:cNvPr id="102" name="Google Shape;102;p18"/>
          <p:cNvSpPr/>
          <p:nvPr/>
        </p:nvSpPr>
        <p:spPr>
          <a:xfrm>
            <a:off x="5858950" y="2170273"/>
            <a:ext cx="2712000" cy="1602000"/>
          </a:xfrm>
          <a:prstGeom prst="roundRect">
            <a:avLst>
              <a:gd name="adj" fmla="val 3224"/>
            </a:avLst>
          </a:prstGeom>
          <a:solidFill>
            <a:srgbClr val="FCE2CF"/>
          </a:solidFill>
          <a:ln w="9525" cap="flat" cmpd="sng">
            <a:solidFill>
              <a:srgbClr val="E2C8B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a:latin typeface="Georgia"/>
                <a:ea typeface="Georgia"/>
                <a:cs typeface="Georgia"/>
                <a:sym typeface="Georgia"/>
              </a:rPr>
              <a:t>Feature Engineering and Encoding</a:t>
            </a:r>
            <a:endParaRPr sz="2100">
              <a:latin typeface="Georgia"/>
              <a:ea typeface="Georgia"/>
              <a:cs typeface="Georgia"/>
              <a:sym typeface="Georgia"/>
            </a:endParaRPr>
          </a:p>
        </p:txBody>
      </p:sp>
      <p:sp>
        <p:nvSpPr>
          <p:cNvPr id="103" name="Google Shape;103;p18"/>
          <p:cNvSpPr/>
          <p:nvPr/>
        </p:nvSpPr>
        <p:spPr>
          <a:xfrm>
            <a:off x="10548850" y="2170273"/>
            <a:ext cx="2712000" cy="1602000"/>
          </a:xfrm>
          <a:prstGeom prst="roundRect">
            <a:avLst>
              <a:gd name="adj" fmla="val 3224"/>
            </a:avLst>
          </a:prstGeom>
          <a:solidFill>
            <a:srgbClr val="FCE2CF"/>
          </a:solidFill>
          <a:ln w="9525" cap="flat" cmpd="sng">
            <a:solidFill>
              <a:srgbClr val="E2C8B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a:latin typeface="Georgia"/>
                <a:ea typeface="Georgia"/>
                <a:cs typeface="Georgia"/>
                <a:sym typeface="Georgia"/>
              </a:rPr>
              <a:t>Model Preparation</a:t>
            </a:r>
            <a:endParaRPr sz="2100">
              <a:latin typeface="Georgia"/>
              <a:ea typeface="Georgia"/>
              <a:cs typeface="Georgia"/>
              <a:sym typeface="Georgia"/>
            </a:endParaRPr>
          </a:p>
        </p:txBody>
      </p:sp>
      <p:sp>
        <p:nvSpPr>
          <p:cNvPr id="104" name="Google Shape;104;p18"/>
          <p:cNvSpPr/>
          <p:nvPr/>
        </p:nvSpPr>
        <p:spPr>
          <a:xfrm>
            <a:off x="8337625" y="5048623"/>
            <a:ext cx="2712000" cy="1602000"/>
          </a:xfrm>
          <a:prstGeom prst="roundRect">
            <a:avLst>
              <a:gd name="adj" fmla="val 3224"/>
            </a:avLst>
          </a:prstGeom>
          <a:solidFill>
            <a:srgbClr val="FCE2CF"/>
          </a:solidFill>
          <a:ln w="9525" cap="flat" cmpd="sng">
            <a:solidFill>
              <a:srgbClr val="E2C8B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a:latin typeface="Georgia"/>
                <a:ea typeface="Georgia"/>
                <a:cs typeface="Georgia"/>
                <a:sym typeface="Georgia"/>
              </a:rPr>
              <a:t>Training Model</a:t>
            </a:r>
            <a:endParaRPr sz="2100">
              <a:latin typeface="Georgia"/>
              <a:ea typeface="Georgia"/>
              <a:cs typeface="Georgia"/>
              <a:sym typeface="Georgia"/>
            </a:endParaRPr>
          </a:p>
        </p:txBody>
      </p:sp>
      <p:sp>
        <p:nvSpPr>
          <p:cNvPr id="105" name="Google Shape;105;p18"/>
          <p:cNvSpPr/>
          <p:nvPr/>
        </p:nvSpPr>
        <p:spPr>
          <a:xfrm>
            <a:off x="3469450" y="5048623"/>
            <a:ext cx="2712000" cy="1602000"/>
          </a:xfrm>
          <a:prstGeom prst="roundRect">
            <a:avLst>
              <a:gd name="adj" fmla="val 3224"/>
            </a:avLst>
          </a:prstGeom>
          <a:solidFill>
            <a:srgbClr val="FCE2CF"/>
          </a:solidFill>
          <a:ln w="9525" cap="flat" cmpd="sng">
            <a:solidFill>
              <a:srgbClr val="E2C8B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100">
                <a:latin typeface="Georgia"/>
                <a:ea typeface="Georgia"/>
                <a:cs typeface="Georgia"/>
                <a:sym typeface="Georgia"/>
              </a:rPr>
              <a:t>Predicting Values</a:t>
            </a:r>
            <a:endParaRPr sz="2100">
              <a:latin typeface="Georgia"/>
              <a:ea typeface="Georgia"/>
              <a:cs typeface="Georgia"/>
              <a:sym typeface="Georgia"/>
            </a:endParaRPr>
          </a:p>
        </p:txBody>
      </p:sp>
      <p:sp>
        <p:nvSpPr>
          <p:cNvPr id="106" name="Google Shape;106;p18"/>
          <p:cNvSpPr/>
          <p:nvPr/>
        </p:nvSpPr>
        <p:spPr>
          <a:xfrm>
            <a:off x="510840" y="1024428"/>
            <a:ext cx="5670600" cy="7089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2C3F42"/>
              </a:buClr>
              <a:buSzPts val="4450"/>
              <a:buFont typeface="Bitter"/>
              <a:buNone/>
            </a:pPr>
            <a:r>
              <a:rPr lang="en-US" sz="4450">
                <a:solidFill>
                  <a:srgbClr val="2C3F42"/>
                </a:solidFill>
                <a:latin typeface="Bitter"/>
                <a:ea typeface="Bitter"/>
                <a:cs typeface="Bitter"/>
                <a:sym typeface="Bitter"/>
              </a:rPr>
              <a:t>Workflow Diagram</a:t>
            </a:r>
            <a:endParaRPr sz="4450" b="0" i="0" u="none" strike="noStrike" cap="none"/>
          </a:p>
        </p:txBody>
      </p:sp>
      <p:sp>
        <p:nvSpPr>
          <p:cNvPr id="107" name="Google Shape;107;p18"/>
          <p:cNvSpPr/>
          <p:nvPr/>
        </p:nvSpPr>
        <p:spPr>
          <a:xfrm>
            <a:off x="4471925" y="2870875"/>
            <a:ext cx="768900" cy="371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
        <p:nvSpPr>
          <p:cNvPr id="108" name="Google Shape;108;p18"/>
          <p:cNvSpPr/>
          <p:nvPr/>
        </p:nvSpPr>
        <p:spPr>
          <a:xfrm>
            <a:off x="9175450" y="2870875"/>
            <a:ext cx="768900" cy="371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
        <p:nvSpPr>
          <p:cNvPr id="109" name="Google Shape;109;p18"/>
          <p:cNvSpPr/>
          <p:nvPr/>
        </p:nvSpPr>
        <p:spPr>
          <a:xfrm flipH="1">
            <a:off x="6875088" y="5663925"/>
            <a:ext cx="768900" cy="371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
        <p:nvSpPr>
          <p:cNvPr id="110" name="Google Shape;110;p18"/>
          <p:cNvSpPr/>
          <p:nvPr/>
        </p:nvSpPr>
        <p:spPr>
          <a:xfrm rot="10800000">
            <a:off x="11432275" y="4164825"/>
            <a:ext cx="768900" cy="1870500"/>
          </a:xfrm>
          <a:prstGeom prst="bentArrow">
            <a:avLst>
              <a:gd name="adj1" fmla="val 25000"/>
              <a:gd name="adj2" fmla="val 25000"/>
              <a:gd name="adj3" fmla="val 25000"/>
              <a:gd name="adj4" fmla="val 4375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9"/>
          <p:cNvSpPr/>
          <p:nvPr/>
        </p:nvSpPr>
        <p:spPr>
          <a:xfrm>
            <a:off x="793790" y="1065371"/>
            <a:ext cx="5670600" cy="7089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2C3F42"/>
              </a:buClr>
              <a:buSzPts val="4450"/>
              <a:buFont typeface="Bitter"/>
              <a:buNone/>
            </a:pPr>
            <a:r>
              <a:rPr lang="en-US" sz="4450" b="0" i="0" u="none" strike="noStrike" cap="none">
                <a:solidFill>
                  <a:srgbClr val="2C3F42"/>
                </a:solidFill>
                <a:latin typeface="Bitter"/>
                <a:ea typeface="Bitter"/>
                <a:cs typeface="Bitter"/>
                <a:sym typeface="Bitter"/>
              </a:rPr>
              <a:t>Data Source</a:t>
            </a:r>
            <a:endParaRPr sz="4450" b="0" i="0" u="none" strike="noStrike" cap="none"/>
          </a:p>
        </p:txBody>
      </p:sp>
      <p:sp>
        <p:nvSpPr>
          <p:cNvPr id="117" name="Google Shape;117;p19"/>
          <p:cNvSpPr/>
          <p:nvPr/>
        </p:nvSpPr>
        <p:spPr>
          <a:xfrm>
            <a:off x="793790" y="2227778"/>
            <a:ext cx="4196400" cy="2955300"/>
          </a:xfrm>
          <a:prstGeom prst="roundRect">
            <a:avLst>
              <a:gd name="adj" fmla="val 3224"/>
            </a:avLst>
          </a:prstGeom>
          <a:solidFill>
            <a:srgbClr val="FCE2CF"/>
          </a:solidFill>
          <a:ln w="9525" cap="flat" cmpd="sng">
            <a:solidFill>
              <a:srgbClr val="E2C8B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9"/>
          <p:cNvSpPr/>
          <p:nvPr/>
        </p:nvSpPr>
        <p:spPr>
          <a:xfrm>
            <a:off x="1028224" y="2462213"/>
            <a:ext cx="680400" cy="680400"/>
          </a:xfrm>
          <a:prstGeom prst="roundRect">
            <a:avLst>
              <a:gd name="adj" fmla="val 13436980"/>
            </a:avLst>
          </a:prstGeom>
          <a:solidFill>
            <a:srgbClr val="D260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9" name="Google Shape;119;p19" descr="preencoded.png"/>
          <p:cNvPicPr preferRelativeResize="0"/>
          <p:nvPr/>
        </p:nvPicPr>
        <p:blipFill rotWithShape="1">
          <a:blip r:embed="rId3">
            <a:alphaModFix/>
          </a:blip>
          <a:srcRect/>
          <a:stretch/>
        </p:blipFill>
        <p:spPr>
          <a:xfrm>
            <a:off x="1215390" y="2649260"/>
            <a:ext cx="306110" cy="306110"/>
          </a:xfrm>
          <a:prstGeom prst="rect">
            <a:avLst/>
          </a:prstGeom>
          <a:noFill/>
          <a:ln>
            <a:noFill/>
          </a:ln>
        </p:spPr>
      </p:pic>
      <p:sp>
        <p:nvSpPr>
          <p:cNvPr id="120" name="Google Shape;120;p19"/>
          <p:cNvSpPr/>
          <p:nvPr/>
        </p:nvSpPr>
        <p:spPr>
          <a:xfrm>
            <a:off x="1028224" y="3369469"/>
            <a:ext cx="2835300" cy="3543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B2E3C"/>
              </a:buClr>
              <a:buSzPts val="2200"/>
              <a:buFont typeface="Bitter"/>
              <a:buNone/>
            </a:pPr>
            <a:r>
              <a:rPr lang="en-US" sz="2200" b="0" i="0" u="none" strike="noStrike" cap="none">
                <a:solidFill>
                  <a:srgbClr val="2B2E3C"/>
                </a:solidFill>
                <a:latin typeface="Bitter"/>
                <a:ea typeface="Bitter"/>
                <a:cs typeface="Bitter"/>
                <a:sym typeface="Bitter"/>
              </a:rPr>
              <a:t>Dataset</a:t>
            </a:r>
            <a:endParaRPr sz="2200" b="0" i="0" u="none" strike="noStrike" cap="none"/>
          </a:p>
        </p:txBody>
      </p:sp>
      <p:sp>
        <p:nvSpPr>
          <p:cNvPr id="121" name="Google Shape;121;p19"/>
          <p:cNvSpPr/>
          <p:nvPr/>
        </p:nvSpPr>
        <p:spPr>
          <a:xfrm>
            <a:off x="1028224" y="3859887"/>
            <a:ext cx="3727500" cy="10887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0" i="0" u="none" strike="noStrike" cap="none">
                <a:solidFill>
                  <a:srgbClr val="2B2E3C"/>
                </a:solidFill>
                <a:latin typeface="Open Sans"/>
                <a:ea typeface="Open Sans"/>
                <a:cs typeface="Open Sans"/>
                <a:sym typeface="Open Sans"/>
              </a:rPr>
              <a:t>Historical match-level data from Indian home matches spanning 2015-2025</a:t>
            </a:r>
            <a:endParaRPr sz="1750" b="0" i="0" u="none" strike="noStrike" cap="none"/>
          </a:p>
        </p:txBody>
      </p:sp>
      <p:sp>
        <p:nvSpPr>
          <p:cNvPr id="122" name="Google Shape;122;p19"/>
          <p:cNvSpPr/>
          <p:nvPr/>
        </p:nvSpPr>
        <p:spPr>
          <a:xfrm>
            <a:off x="5216962" y="2227778"/>
            <a:ext cx="4196400" cy="2955300"/>
          </a:xfrm>
          <a:prstGeom prst="roundRect">
            <a:avLst>
              <a:gd name="adj" fmla="val 3224"/>
            </a:avLst>
          </a:prstGeom>
          <a:solidFill>
            <a:srgbClr val="FCE2CF"/>
          </a:solidFill>
          <a:ln w="9525" cap="flat" cmpd="sng">
            <a:solidFill>
              <a:srgbClr val="E2C8B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9"/>
          <p:cNvSpPr/>
          <p:nvPr/>
        </p:nvSpPr>
        <p:spPr>
          <a:xfrm>
            <a:off x="5451396" y="2462213"/>
            <a:ext cx="680400" cy="680400"/>
          </a:xfrm>
          <a:prstGeom prst="roundRect">
            <a:avLst>
              <a:gd name="adj" fmla="val 13436980"/>
            </a:avLst>
          </a:prstGeom>
          <a:solidFill>
            <a:srgbClr val="D260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4" name="Google Shape;124;p19" descr="preencoded.png"/>
          <p:cNvPicPr preferRelativeResize="0"/>
          <p:nvPr/>
        </p:nvPicPr>
        <p:blipFill rotWithShape="1">
          <a:blip r:embed="rId4">
            <a:alphaModFix/>
          </a:blip>
          <a:srcRect/>
          <a:stretch/>
        </p:blipFill>
        <p:spPr>
          <a:xfrm>
            <a:off x="5638562" y="2649260"/>
            <a:ext cx="306110" cy="306110"/>
          </a:xfrm>
          <a:prstGeom prst="rect">
            <a:avLst/>
          </a:prstGeom>
          <a:noFill/>
          <a:ln>
            <a:noFill/>
          </a:ln>
        </p:spPr>
      </p:pic>
      <p:sp>
        <p:nvSpPr>
          <p:cNvPr id="125" name="Google Shape;125;p19"/>
          <p:cNvSpPr/>
          <p:nvPr/>
        </p:nvSpPr>
        <p:spPr>
          <a:xfrm>
            <a:off x="5451396" y="3369469"/>
            <a:ext cx="2835300" cy="3543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B2E3C"/>
              </a:buClr>
              <a:buSzPts val="2200"/>
              <a:buFont typeface="Bitter"/>
              <a:buNone/>
            </a:pPr>
            <a:r>
              <a:rPr lang="en-US" sz="2200" b="0" i="0" u="none" strike="noStrike" cap="none">
                <a:solidFill>
                  <a:srgbClr val="2B2E3C"/>
                </a:solidFill>
                <a:latin typeface="Bitter"/>
                <a:ea typeface="Bitter"/>
                <a:cs typeface="Bitter"/>
                <a:sym typeface="Bitter"/>
              </a:rPr>
              <a:t>Volume</a:t>
            </a:r>
            <a:endParaRPr sz="2200" b="0" i="0" u="none" strike="noStrike" cap="none"/>
          </a:p>
        </p:txBody>
      </p:sp>
      <p:sp>
        <p:nvSpPr>
          <p:cNvPr id="126" name="Google Shape;126;p19"/>
          <p:cNvSpPr/>
          <p:nvPr/>
        </p:nvSpPr>
        <p:spPr>
          <a:xfrm>
            <a:off x="5451396" y="3859887"/>
            <a:ext cx="3727500" cy="7257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0" i="0" u="none" strike="noStrike" cap="none">
                <a:solidFill>
                  <a:srgbClr val="2B2E3C"/>
                </a:solidFill>
                <a:latin typeface="Open Sans"/>
                <a:ea typeface="Open Sans"/>
                <a:cs typeface="Open Sans"/>
                <a:sym typeface="Open Sans"/>
              </a:rPr>
              <a:t>208 data points capturing comprehensive match details</a:t>
            </a:r>
            <a:endParaRPr sz="1750" b="0" i="0" u="none" strike="noStrike" cap="none"/>
          </a:p>
        </p:txBody>
      </p:sp>
      <p:sp>
        <p:nvSpPr>
          <p:cNvPr id="127" name="Google Shape;127;p19"/>
          <p:cNvSpPr/>
          <p:nvPr/>
        </p:nvSpPr>
        <p:spPr>
          <a:xfrm>
            <a:off x="9640133" y="2227778"/>
            <a:ext cx="4196400" cy="2955300"/>
          </a:xfrm>
          <a:prstGeom prst="roundRect">
            <a:avLst>
              <a:gd name="adj" fmla="val 3224"/>
            </a:avLst>
          </a:prstGeom>
          <a:solidFill>
            <a:srgbClr val="FCE2CF"/>
          </a:solidFill>
          <a:ln w="9525" cap="flat" cmpd="sng">
            <a:solidFill>
              <a:srgbClr val="E2C8B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9"/>
          <p:cNvSpPr/>
          <p:nvPr/>
        </p:nvSpPr>
        <p:spPr>
          <a:xfrm>
            <a:off x="9874568" y="2462213"/>
            <a:ext cx="680400" cy="680400"/>
          </a:xfrm>
          <a:prstGeom prst="roundRect">
            <a:avLst>
              <a:gd name="adj" fmla="val 13436980"/>
            </a:avLst>
          </a:prstGeom>
          <a:solidFill>
            <a:srgbClr val="D260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9" name="Google Shape;129;p19" descr="preencoded.png"/>
          <p:cNvPicPr preferRelativeResize="0"/>
          <p:nvPr/>
        </p:nvPicPr>
        <p:blipFill rotWithShape="1">
          <a:blip r:embed="rId5">
            <a:alphaModFix/>
          </a:blip>
          <a:srcRect/>
          <a:stretch/>
        </p:blipFill>
        <p:spPr>
          <a:xfrm>
            <a:off x="10061734" y="2649260"/>
            <a:ext cx="306110" cy="306110"/>
          </a:xfrm>
          <a:prstGeom prst="rect">
            <a:avLst/>
          </a:prstGeom>
          <a:noFill/>
          <a:ln>
            <a:noFill/>
          </a:ln>
        </p:spPr>
      </p:pic>
      <p:sp>
        <p:nvSpPr>
          <p:cNvPr id="130" name="Google Shape;130;p19"/>
          <p:cNvSpPr/>
          <p:nvPr/>
        </p:nvSpPr>
        <p:spPr>
          <a:xfrm>
            <a:off x="9874568" y="3369469"/>
            <a:ext cx="2835300" cy="3543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B2E3C"/>
              </a:buClr>
              <a:buSzPts val="2200"/>
              <a:buFont typeface="Bitter"/>
              <a:buNone/>
            </a:pPr>
            <a:r>
              <a:rPr lang="en-US" sz="2200" b="0" i="0" u="none" strike="noStrike" cap="none">
                <a:solidFill>
                  <a:srgbClr val="2B2E3C"/>
                </a:solidFill>
                <a:latin typeface="Bitter"/>
                <a:ea typeface="Bitter"/>
                <a:cs typeface="Bitter"/>
                <a:sym typeface="Bitter"/>
              </a:rPr>
              <a:t>Key Attributes</a:t>
            </a:r>
            <a:endParaRPr sz="2200" b="0" i="0" u="none" strike="noStrike" cap="none"/>
          </a:p>
        </p:txBody>
      </p:sp>
      <p:sp>
        <p:nvSpPr>
          <p:cNvPr id="131" name="Google Shape;131;p19"/>
          <p:cNvSpPr/>
          <p:nvPr/>
        </p:nvSpPr>
        <p:spPr>
          <a:xfrm>
            <a:off x="9874568" y="3859887"/>
            <a:ext cx="3727500" cy="10887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0" i="0" u="none" strike="noStrike" cap="none">
                <a:solidFill>
                  <a:srgbClr val="2B2E3C"/>
                </a:solidFill>
                <a:latin typeface="Open Sans"/>
                <a:ea typeface="Open Sans"/>
                <a:cs typeface="Open Sans"/>
                <a:sym typeface="Open Sans"/>
              </a:rPr>
              <a:t>Runs scored, Date, Venue, Opponent, Pitch Rating (1-5), Bowler Type, Toss Decision</a:t>
            </a:r>
            <a:endParaRPr sz="1750" b="0" i="0" u="none" strike="noStrike" cap="none"/>
          </a:p>
        </p:txBody>
      </p:sp>
      <p:pic>
        <p:nvPicPr>
          <p:cNvPr id="132" name="Google Shape;132;p19"/>
          <p:cNvPicPr preferRelativeResize="0"/>
          <p:nvPr/>
        </p:nvPicPr>
        <p:blipFill>
          <a:blip r:embed="rId6">
            <a:alphaModFix/>
          </a:blip>
          <a:stretch>
            <a:fillRect/>
          </a:stretch>
        </p:blipFill>
        <p:spPr>
          <a:xfrm>
            <a:off x="12789403" y="7778150"/>
            <a:ext cx="1841000" cy="371475"/>
          </a:xfrm>
          <a:prstGeom prst="rect">
            <a:avLst/>
          </a:prstGeom>
          <a:noFill/>
          <a:ln>
            <a:noFill/>
          </a:ln>
        </p:spPr>
      </p:pic>
      <p:pic>
        <p:nvPicPr>
          <p:cNvPr id="133" name="Google Shape;133;p19"/>
          <p:cNvPicPr preferRelativeResize="0"/>
          <p:nvPr/>
        </p:nvPicPr>
        <p:blipFill>
          <a:blip r:embed="rId7">
            <a:alphaModFix/>
          </a:blip>
          <a:stretch>
            <a:fillRect/>
          </a:stretch>
        </p:blipFill>
        <p:spPr>
          <a:xfrm>
            <a:off x="304800" y="6060103"/>
            <a:ext cx="14020800" cy="1590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0"/>
          <p:cNvSpPr/>
          <p:nvPr/>
        </p:nvSpPr>
        <p:spPr>
          <a:xfrm>
            <a:off x="814342" y="829628"/>
            <a:ext cx="7021476" cy="708900"/>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2C3F42"/>
              </a:buClr>
              <a:buSzPts val="4450"/>
              <a:buFont typeface="Bitter"/>
              <a:buNone/>
            </a:pPr>
            <a:r>
              <a:rPr lang="en-US" sz="4450" b="0" i="0" u="none" strike="noStrike" cap="none" dirty="0">
                <a:solidFill>
                  <a:srgbClr val="2C3F42"/>
                </a:solidFill>
                <a:latin typeface="Bitter"/>
                <a:ea typeface="Bitter"/>
                <a:cs typeface="Bitter"/>
                <a:sym typeface="Bitter"/>
              </a:rPr>
              <a:t>Label &amp; Feature Encoding</a:t>
            </a:r>
            <a:endParaRPr sz="4450" b="0" i="0" u="none" strike="noStrike" cap="none"/>
          </a:p>
        </p:txBody>
      </p:sp>
      <p:sp>
        <p:nvSpPr>
          <p:cNvPr id="140" name="Google Shape;140;p20"/>
          <p:cNvSpPr/>
          <p:nvPr/>
        </p:nvSpPr>
        <p:spPr>
          <a:xfrm>
            <a:off x="793790" y="2105382"/>
            <a:ext cx="2835300" cy="3543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C3F42"/>
              </a:buClr>
              <a:buSzPts val="2200"/>
              <a:buFont typeface="Bitter"/>
              <a:buNone/>
            </a:pPr>
            <a:r>
              <a:rPr lang="en-US" sz="2200" b="0" i="0" u="none" strike="noStrike" cap="none">
                <a:solidFill>
                  <a:srgbClr val="2C3F42"/>
                </a:solidFill>
                <a:latin typeface="Bitter"/>
                <a:ea typeface="Bitter"/>
                <a:cs typeface="Bitter"/>
                <a:sym typeface="Bitter"/>
              </a:rPr>
              <a:t>Label Encoding</a:t>
            </a:r>
            <a:endParaRPr sz="2200" b="0" i="0" u="none" strike="noStrike" cap="none"/>
          </a:p>
        </p:txBody>
      </p:sp>
      <p:sp>
        <p:nvSpPr>
          <p:cNvPr id="141" name="Google Shape;141;p20"/>
          <p:cNvSpPr/>
          <p:nvPr/>
        </p:nvSpPr>
        <p:spPr>
          <a:xfrm>
            <a:off x="793790" y="2686526"/>
            <a:ext cx="6244800" cy="10887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0" i="0" u="none" strike="noStrike" cap="none">
                <a:solidFill>
                  <a:srgbClr val="2B2E3C"/>
                </a:solidFill>
                <a:latin typeface="Open Sans"/>
                <a:ea typeface="Open Sans"/>
                <a:cs typeface="Open Sans"/>
                <a:sym typeface="Open Sans"/>
              </a:rPr>
              <a:t>Transformed text categories including </a:t>
            </a:r>
            <a:r>
              <a:rPr lang="en-US" sz="1750" b="1" i="0" u="none" strike="noStrike" cap="none">
                <a:solidFill>
                  <a:srgbClr val="2B2E3C"/>
                </a:solidFill>
                <a:latin typeface="Open Sans"/>
                <a:ea typeface="Open Sans"/>
                <a:cs typeface="Open Sans"/>
                <a:sym typeface="Open Sans"/>
              </a:rPr>
              <a:t>Opponent, Venue,</a:t>
            </a:r>
            <a:r>
              <a:rPr lang="en-US" sz="1750" b="0" i="0" u="none" strike="noStrike" cap="none">
                <a:solidFill>
                  <a:srgbClr val="2B2E3C"/>
                </a:solidFill>
                <a:latin typeface="Open Sans"/>
                <a:ea typeface="Open Sans"/>
                <a:cs typeface="Open Sans"/>
                <a:sym typeface="Open Sans"/>
              </a:rPr>
              <a:t> and </a:t>
            </a:r>
            <a:r>
              <a:rPr lang="en-US" sz="1750" b="1" i="0" u="none" strike="noStrike" cap="none">
                <a:solidFill>
                  <a:srgbClr val="2B2E3C"/>
                </a:solidFill>
                <a:latin typeface="Open Sans"/>
                <a:ea typeface="Open Sans"/>
                <a:cs typeface="Open Sans"/>
                <a:sym typeface="Open Sans"/>
              </a:rPr>
              <a:t>Pitch Type</a:t>
            </a:r>
            <a:r>
              <a:rPr lang="en-US" sz="1750" b="0" i="0" u="none" strike="noStrike" cap="none">
                <a:solidFill>
                  <a:srgbClr val="2B2E3C"/>
                </a:solidFill>
                <a:latin typeface="Open Sans"/>
                <a:ea typeface="Open Sans"/>
                <a:cs typeface="Open Sans"/>
                <a:sym typeface="Open Sans"/>
              </a:rPr>
              <a:t> into unique integers using LabelEncoder for model compatibility.</a:t>
            </a:r>
            <a:endParaRPr sz="1750" b="0" i="0" u="none" strike="noStrike" cap="none"/>
          </a:p>
        </p:txBody>
      </p:sp>
      <p:sp>
        <p:nvSpPr>
          <p:cNvPr id="142" name="Google Shape;142;p20"/>
          <p:cNvSpPr/>
          <p:nvPr/>
        </p:nvSpPr>
        <p:spPr>
          <a:xfrm>
            <a:off x="793790" y="4002048"/>
            <a:ext cx="2835300" cy="3543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C3F42"/>
              </a:buClr>
              <a:buSzPts val="2200"/>
              <a:buFont typeface="Bitter"/>
              <a:buNone/>
            </a:pPr>
            <a:r>
              <a:rPr lang="en-US" sz="2200" b="0" i="0" u="none" strike="noStrike" cap="none">
                <a:solidFill>
                  <a:srgbClr val="2C3F42"/>
                </a:solidFill>
                <a:latin typeface="Bitter"/>
                <a:ea typeface="Bitter"/>
                <a:cs typeface="Bitter"/>
                <a:sym typeface="Bitter"/>
              </a:rPr>
              <a:t>Ordinal Encoding</a:t>
            </a:r>
            <a:endParaRPr sz="2200" b="0" i="0" u="none" strike="noStrike" cap="none"/>
          </a:p>
        </p:txBody>
      </p:sp>
      <p:sp>
        <p:nvSpPr>
          <p:cNvPr id="143" name="Google Shape;143;p20"/>
          <p:cNvSpPr/>
          <p:nvPr/>
        </p:nvSpPr>
        <p:spPr>
          <a:xfrm>
            <a:off x="793790" y="4583192"/>
            <a:ext cx="6244800" cy="10887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0" i="0" u="none" strike="noStrike" cap="none">
                <a:solidFill>
                  <a:srgbClr val="2B2E3C"/>
                </a:solidFill>
                <a:latin typeface="Open Sans"/>
                <a:ea typeface="Open Sans"/>
                <a:cs typeface="Open Sans"/>
                <a:sym typeface="Open Sans"/>
              </a:rPr>
              <a:t>Applied to </a:t>
            </a:r>
            <a:r>
              <a:rPr lang="en-US" sz="1750" b="1" i="0" u="none" strike="noStrike" cap="none">
                <a:solidFill>
                  <a:srgbClr val="2B2E3C"/>
                </a:solidFill>
                <a:latin typeface="Open Sans"/>
                <a:ea typeface="Open Sans"/>
                <a:cs typeface="Open Sans"/>
                <a:sym typeface="Open Sans"/>
              </a:rPr>
              <a:t>Role</a:t>
            </a:r>
            <a:r>
              <a:rPr lang="en-US" sz="1750" b="0" i="0" u="none" strike="noStrike" cap="none">
                <a:solidFill>
                  <a:srgbClr val="2B2E3C"/>
                </a:solidFill>
                <a:latin typeface="Open Sans"/>
                <a:ea typeface="Open Sans"/>
                <a:cs typeface="Open Sans"/>
                <a:sym typeface="Open Sans"/>
              </a:rPr>
              <a:t> (e.g., Top Order, Middle Order, Lower Order) because batting position has a logical hierarchy that impacts scoring patterns.</a:t>
            </a:r>
            <a:endParaRPr sz="1750" b="0" i="0" u="none" strike="noStrike" cap="none"/>
          </a:p>
        </p:txBody>
      </p:sp>
      <p:sp>
        <p:nvSpPr>
          <p:cNvPr id="144" name="Google Shape;144;p20"/>
          <p:cNvSpPr/>
          <p:nvPr/>
        </p:nvSpPr>
        <p:spPr>
          <a:xfrm>
            <a:off x="7599521" y="2105382"/>
            <a:ext cx="2835300" cy="3543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C3F42"/>
              </a:buClr>
              <a:buSzPts val="2200"/>
              <a:buFont typeface="Bitter"/>
              <a:buNone/>
            </a:pPr>
            <a:r>
              <a:rPr lang="en-US" sz="2200" b="0" i="0" u="none" strike="noStrike" cap="none">
                <a:solidFill>
                  <a:srgbClr val="2C3F42"/>
                </a:solidFill>
                <a:latin typeface="Bitter"/>
                <a:ea typeface="Bitter"/>
                <a:cs typeface="Bitter"/>
                <a:sym typeface="Bitter"/>
              </a:rPr>
              <a:t>Feature Engineering</a:t>
            </a:r>
            <a:endParaRPr sz="2200" b="0" i="0" u="none" strike="noStrike" cap="none"/>
          </a:p>
        </p:txBody>
      </p:sp>
      <p:sp>
        <p:nvSpPr>
          <p:cNvPr id="145" name="Google Shape;145;p20"/>
          <p:cNvSpPr/>
          <p:nvPr/>
        </p:nvSpPr>
        <p:spPr>
          <a:xfrm>
            <a:off x="7599521" y="2686526"/>
            <a:ext cx="6244800" cy="10887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0" i="0" u="none" strike="noStrike" cap="none">
                <a:solidFill>
                  <a:srgbClr val="2B2E3C"/>
                </a:solidFill>
                <a:latin typeface="Open Sans"/>
                <a:ea typeface="Open Sans"/>
                <a:cs typeface="Open Sans"/>
                <a:sym typeface="Open Sans"/>
              </a:rPr>
              <a:t>Split Bowler_Type into two specific binary columns to pinpoint exactly which bowling style triggers performance downfall:</a:t>
            </a:r>
            <a:endParaRPr sz="1750" b="0" i="0" u="none" strike="noStrike" cap="none"/>
          </a:p>
        </p:txBody>
      </p:sp>
      <p:sp>
        <p:nvSpPr>
          <p:cNvPr id="146" name="Google Shape;146;p20"/>
          <p:cNvSpPr/>
          <p:nvPr/>
        </p:nvSpPr>
        <p:spPr>
          <a:xfrm>
            <a:off x="7599521" y="3979307"/>
            <a:ext cx="6244800" cy="8052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1" i="0" u="none" strike="noStrike" cap="none">
                <a:solidFill>
                  <a:srgbClr val="2B2E3C"/>
                </a:solidFill>
                <a:latin typeface="Open Sans"/>
                <a:ea typeface="Open Sans"/>
                <a:cs typeface="Open Sans"/>
                <a:sym typeface="Open Sans"/>
              </a:rPr>
              <a:t>Is_Spin</a:t>
            </a:r>
            <a:r>
              <a:rPr lang="en-US" sz="1750" b="0" i="0" u="none" strike="noStrike" cap="none">
                <a:solidFill>
                  <a:srgbClr val="2B2E3C"/>
                </a:solidFill>
                <a:latin typeface="Open Sans"/>
                <a:ea typeface="Open Sans"/>
                <a:cs typeface="Open Sans"/>
                <a:sym typeface="Open Sans"/>
              </a:rPr>
              <a:t> (1 for Spin, 0 for Pace)</a:t>
            </a:r>
            <a:endParaRPr sz="1750" b="0" i="0" u="none" strike="noStrike" cap="none"/>
          </a:p>
          <a:p>
            <a:pPr marL="0" marR="0" lvl="0" indent="0" algn="l" rtl="0">
              <a:lnSpc>
                <a:spcPct val="162857"/>
              </a:lnSpc>
              <a:spcBef>
                <a:spcPts val="0"/>
              </a:spcBef>
              <a:spcAft>
                <a:spcPts val="0"/>
              </a:spcAft>
              <a:buClr>
                <a:srgbClr val="2B2E3C"/>
              </a:buClr>
              <a:buSzPts val="1750"/>
              <a:buFont typeface="Open Sans"/>
              <a:buNone/>
            </a:pPr>
            <a:r>
              <a:rPr lang="en-US" sz="1750" b="1" i="0" u="none" strike="noStrike" cap="none">
                <a:solidFill>
                  <a:srgbClr val="2B2E3C"/>
                </a:solidFill>
                <a:latin typeface="Open Sans"/>
                <a:ea typeface="Open Sans"/>
                <a:cs typeface="Open Sans"/>
                <a:sym typeface="Open Sans"/>
              </a:rPr>
              <a:t>Is_Left_Arm</a:t>
            </a:r>
            <a:r>
              <a:rPr lang="en-US" sz="1750" b="0" i="0" u="none" strike="noStrike" cap="none">
                <a:solidFill>
                  <a:srgbClr val="2B2E3C"/>
                </a:solidFill>
                <a:latin typeface="Open Sans"/>
                <a:ea typeface="Open Sans"/>
                <a:cs typeface="Open Sans"/>
                <a:sym typeface="Open Sans"/>
              </a:rPr>
              <a:t> (1 for Left, 0 for Right)</a:t>
            </a:r>
            <a:endParaRPr sz="1750" b="0" i="0" u="none" strike="noStrike" cap="none"/>
          </a:p>
        </p:txBody>
      </p:sp>
      <p:pic>
        <p:nvPicPr>
          <p:cNvPr id="147" name="Google Shape;147;p20"/>
          <p:cNvPicPr preferRelativeResize="0"/>
          <p:nvPr/>
        </p:nvPicPr>
        <p:blipFill>
          <a:blip r:embed="rId3">
            <a:alphaModFix/>
          </a:blip>
          <a:stretch>
            <a:fillRect/>
          </a:stretch>
        </p:blipFill>
        <p:spPr>
          <a:xfrm>
            <a:off x="12789403" y="7778150"/>
            <a:ext cx="1841000" cy="371475"/>
          </a:xfrm>
          <a:prstGeom prst="rect">
            <a:avLst/>
          </a:prstGeom>
          <a:noFill/>
          <a:ln>
            <a:noFill/>
          </a:ln>
        </p:spPr>
      </p:pic>
      <p:pic>
        <p:nvPicPr>
          <p:cNvPr id="148" name="Google Shape;148;p20"/>
          <p:cNvPicPr preferRelativeResize="0"/>
          <p:nvPr/>
        </p:nvPicPr>
        <p:blipFill>
          <a:blip r:embed="rId4">
            <a:alphaModFix/>
          </a:blip>
          <a:stretch>
            <a:fillRect/>
          </a:stretch>
        </p:blipFill>
        <p:spPr>
          <a:xfrm>
            <a:off x="1081088" y="6244617"/>
            <a:ext cx="12468225" cy="15335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1"/>
          <p:cNvSpPr/>
          <p:nvPr/>
        </p:nvSpPr>
        <p:spPr>
          <a:xfrm>
            <a:off x="793790" y="1028819"/>
            <a:ext cx="7556421" cy="1417558"/>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2C3F42"/>
              </a:buClr>
              <a:buSzPts val="4450"/>
              <a:buFont typeface="Bitter"/>
              <a:buNone/>
            </a:pPr>
            <a:r>
              <a:rPr lang="en-US" sz="4450" b="0" i="0" u="none" strike="noStrike" cap="none">
                <a:solidFill>
                  <a:srgbClr val="2C3F42"/>
                </a:solidFill>
                <a:latin typeface="Bitter"/>
                <a:ea typeface="Bitter"/>
                <a:cs typeface="Bitter"/>
                <a:sym typeface="Bitter"/>
              </a:rPr>
              <a:t>Model Implementation: Random Forest Regression</a:t>
            </a:r>
            <a:endParaRPr sz="4450" b="0" i="0" u="none" strike="noStrike" cap="none"/>
          </a:p>
        </p:txBody>
      </p:sp>
      <p:sp>
        <p:nvSpPr>
          <p:cNvPr id="155" name="Google Shape;155;p21"/>
          <p:cNvSpPr/>
          <p:nvPr/>
        </p:nvSpPr>
        <p:spPr>
          <a:xfrm>
            <a:off x="793790" y="2786539"/>
            <a:ext cx="3664744" cy="2456617"/>
          </a:xfrm>
          <a:prstGeom prst="roundRect">
            <a:avLst>
              <a:gd name="adj" fmla="val 3878"/>
            </a:avLst>
          </a:prstGeom>
          <a:solidFill>
            <a:srgbClr val="FFF8F0"/>
          </a:solidFill>
          <a:ln w="30475" cap="flat" cmpd="sng">
            <a:solidFill>
              <a:srgbClr val="E2C8B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1"/>
          <p:cNvSpPr/>
          <p:nvPr/>
        </p:nvSpPr>
        <p:spPr>
          <a:xfrm>
            <a:off x="1051084" y="3043833"/>
            <a:ext cx="2835235" cy="35433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B2E3C"/>
              </a:buClr>
              <a:buSzPts val="2200"/>
              <a:buFont typeface="Bitter"/>
              <a:buNone/>
            </a:pPr>
            <a:r>
              <a:rPr lang="en-US" sz="2200" b="0" i="0" u="none" strike="noStrike" cap="none">
                <a:solidFill>
                  <a:srgbClr val="2B2E3C"/>
                </a:solidFill>
                <a:latin typeface="Bitter"/>
                <a:ea typeface="Bitter"/>
                <a:cs typeface="Bitter"/>
                <a:sym typeface="Bitter"/>
              </a:rPr>
              <a:t>The Choice</a:t>
            </a:r>
            <a:endParaRPr sz="2200" b="0" i="0" u="none" strike="noStrike" cap="none"/>
          </a:p>
        </p:txBody>
      </p:sp>
      <p:sp>
        <p:nvSpPr>
          <p:cNvPr id="157" name="Google Shape;157;p21"/>
          <p:cNvSpPr/>
          <p:nvPr/>
        </p:nvSpPr>
        <p:spPr>
          <a:xfrm>
            <a:off x="1051084" y="3534251"/>
            <a:ext cx="3150156" cy="145161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0" i="0" u="none" strike="noStrike" cap="none">
                <a:solidFill>
                  <a:srgbClr val="2B2E3C"/>
                </a:solidFill>
                <a:latin typeface="Open Sans"/>
                <a:ea typeface="Open Sans"/>
                <a:cs typeface="Open Sans"/>
                <a:sym typeface="Open Sans"/>
              </a:rPr>
              <a:t>Random Forest Regressor selected for its ability to handle complex, non-linear cricket data relationships</a:t>
            </a:r>
            <a:endParaRPr sz="1750" b="0" i="0" u="none" strike="noStrike" cap="none"/>
          </a:p>
        </p:txBody>
      </p:sp>
      <p:sp>
        <p:nvSpPr>
          <p:cNvPr id="158" name="Google Shape;158;p21"/>
          <p:cNvSpPr/>
          <p:nvPr/>
        </p:nvSpPr>
        <p:spPr>
          <a:xfrm>
            <a:off x="4685348" y="2786539"/>
            <a:ext cx="3664863" cy="2456617"/>
          </a:xfrm>
          <a:prstGeom prst="roundRect">
            <a:avLst>
              <a:gd name="adj" fmla="val 3878"/>
            </a:avLst>
          </a:prstGeom>
          <a:solidFill>
            <a:srgbClr val="FFF8F0"/>
          </a:solidFill>
          <a:ln w="30475" cap="flat" cmpd="sng">
            <a:solidFill>
              <a:srgbClr val="E2C8B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1"/>
          <p:cNvSpPr/>
          <p:nvPr/>
        </p:nvSpPr>
        <p:spPr>
          <a:xfrm>
            <a:off x="4942642" y="3043833"/>
            <a:ext cx="2835235" cy="35433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B2E3C"/>
              </a:buClr>
              <a:buSzPts val="2200"/>
              <a:buFont typeface="Bitter"/>
              <a:buNone/>
            </a:pPr>
            <a:r>
              <a:rPr lang="en-US" sz="2200" b="0" i="0" u="none" strike="noStrike" cap="none">
                <a:solidFill>
                  <a:srgbClr val="2B2E3C"/>
                </a:solidFill>
                <a:latin typeface="Bitter"/>
                <a:ea typeface="Bitter"/>
                <a:cs typeface="Bitter"/>
                <a:sym typeface="Bitter"/>
              </a:rPr>
              <a:t>How it Works</a:t>
            </a:r>
            <a:endParaRPr sz="2200" b="0" i="0" u="none" strike="noStrike" cap="none"/>
          </a:p>
        </p:txBody>
      </p:sp>
      <p:sp>
        <p:nvSpPr>
          <p:cNvPr id="160" name="Google Shape;160;p21"/>
          <p:cNvSpPr/>
          <p:nvPr/>
        </p:nvSpPr>
        <p:spPr>
          <a:xfrm>
            <a:off x="4942642" y="3534251"/>
            <a:ext cx="3150275" cy="145161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0" i="0" u="none" strike="noStrike" cap="none">
                <a:solidFill>
                  <a:srgbClr val="2B2E3C"/>
                </a:solidFill>
                <a:latin typeface="Open Sans"/>
                <a:ea typeface="Open Sans"/>
                <a:cs typeface="Open Sans"/>
                <a:sym typeface="Open Sans"/>
              </a:rPr>
              <a:t>Builds multiple decision trees and averages their predictions to reduce error and improve accuracy</a:t>
            </a:r>
            <a:endParaRPr sz="1750" b="0" i="0" u="none" strike="noStrike" cap="none"/>
          </a:p>
        </p:txBody>
      </p:sp>
      <p:sp>
        <p:nvSpPr>
          <p:cNvPr id="161" name="Google Shape;161;p21"/>
          <p:cNvSpPr/>
          <p:nvPr/>
        </p:nvSpPr>
        <p:spPr>
          <a:xfrm>
            <a:off x="793790" y="5469969"/>
            <a:ext cx="7556421" cy="1730812"/>
          </a:xfrm>
          <a:prstGeom prst="roundRect">
            <a:avLst>
              <a:gd name="adj" fmla="val 5504"/>
            </a:avLst>
          </a:prstGeom>
          <a:solidFill>
            <a:srgbClr val="FFF8F0"/>
          </a:solidFill>
          <a:ln w="30475" cap="flat" cmpd="sng">
            <a:solidFill>
              <a:srgbClr val="E2C8B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1"/>
          <p:cNvSpPr/>
          <p:nvPr/>
        </p:nvSpPr>
        <p:spPr>
          <a:xfrm>
            <a:off x="1051084" y="5727263"/>
            <a:ext cx="2835235" cy="35433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B2E3C"/>
              </a:buClr>
              <a:buSzPts val="2200"/>
              <a:buFont typeface="Bitter"/>
              <a:buNone/>
            </a:pPr>
            <a:r>
              <a:rPr lang="en-US" sz="2200" b="0" i="0" u="none" strike="noStrike" cap="none">
                <a:solidFill>
                  <a:srgbClr val="2B2E3C"/>
                </a:solidFill>
                <a:latin typeface="Bitter"/>
                <a:ea typeface="Bitter"/>
                <a:cs typeface="Bitter"/>
                <a:sym typeface="Bitter"/>
              </a:rPr>
              <a:t>Hyperparameters</a:t>
            </a:r>
            <a:endParaRPr sz="2200" b="0" i="0" u="none" strike="noStrike" cap="none"/>
          </a:p>
        </p:txBody>
      </p:sp>
      <p:sp>
        <p:nvSpPr>
          <p:cNvPr id="163" name="Google Shape;163;p21"/>
          <p:cNvSpPr/>
          <p:nvPr/>
        </p:nvSpPr>
        <p:spPr>
          <a:xfrm>
            <a:off x="1051084" y="6217682"/>
            <a:ext cx="7041832" cy="725805"/>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0" i="0" u="none" strike="noStrike" cap="none">
                <a:solidFill>
                  <a:srgbClr val="2B2E3C"/>
                </a:solidFill>
                <a:latin typeface="Open Sans"/>
                <a:ea typeface="Open Sans"/>
                <a:cs typeface="Open Sans"/>
                <a:sym typeface="Open Sans"/>
              </a:rPr>
              <a:t>max_depth=4 and min_samples_leaf=10 prevent the model from memorizing specific matches and overfitting</a:t>
            </a:r>
            <a:endParaRPr sz="1750" b="0" i="0" u="none" strike="noStrike" cap="none"/>
          </a:p>
        </p:txBody>
      </p:sp>
      <p:pic>
        <p:nvPicPr>
          <p:cNvPr id="164" name="Google Shape;164;p21"/>
          <p:cNvPicPr preferRelativeResize="0"/>
          <p:nvPr/>
        </p:nvPicPr>
        <p:blipFill rotWithShape="1">
          <a:blip r:embed="rId3">
            <a:alphaModFix/>
          </a:blip>
          <a:srcRect l="4132" t="3878" r="4652" b="3786"/>
          <a:stretch/>
        </p:blipFill>
        <p:spPr>
          <a:xfrm>
            <a:off x="8577025" y="2786550"/>
            <a:ext cx="5591999" cy="4251174"/>
          </a:xfrm>
          <a:prstGeom prst="rect">
            <a:avLst/>
          </a:prstGeom>
          <a:noFill/>
          <a:ln>
            <a:noFill/>
          </a:ln>
        </p:spPr>
      </p:pic>
      <p:pic>
        <p:nvPicPr>
          <p:cNvPr id="165" name="Google Shape;165;p21"/>
          <p:cNvPicPr preferRelativeResize="0"/>
          <p:nvPr/>
        </p:nvPicPr>
        <p:blipFill>
          <a:blip r:embed="rId4">
            <a:alphaModFix/>
          </a:blip>
          <a:stretch>
            <a:fillRect/>
          </a:stretch>
        </p:blipFill>
        <p:spPr>
          <a:xfrm>
            <a:off x="12789403" y="7778150"/>
            <a:ext cx="1841000" cy="371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2"/>
          <p:cNvSpPr/>
          <p:nvPr/>
        </p:nvSpPr>
        <p:spPr>
          <a:xfrm>
            <a:off x="793790" y="2199680"/>
            <a:ext cx="5670590" cy="708779"/>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2C3F42"/>
              </a:buClr>
              <a:buSzPts val="4450"/>
              <a:buFont typeface="Bitter"/>
              <a:buNone/>
            </a:pPr>
            <a:r>
              <a:rPr lang="en-US" sz="4450" b="0" i="0" u="none" strike="noStrike" cap="none">
                <a:solidFill>
                  <a:srgbClr val="2C3F42"/>
                </a:solidFill>
                <a:latin typeface="Bitter"/>
                <a:ea typeface="Bitter"/>
                <a:cs typeface="Bitter"/>
                <a:sym typeface="Bitter"/>
              </a:rPr>
              <a:t>Why Random Forest?</a:t>
            </a:r>
            <a:endParaRPr sz="4450" b="0" i="0" u="none" strike="noStrike" cap="none"/>
          </a:p>
        </p:txBody>
      </p:sp>
      <p:pic>
        <p:nvPicPr>
          <p:cNvPr id="172" name="Google Shape;172;p22" descr="preencoded.png"/>
          <p:cNvPicPr preferRelativeResize="0"/>
          <p:nvPr/>
        </p:nvPicPr>
        <p:blipFill rotWithShape="1">
          <a:blip r:embed="rId3">
            <a:alphaModFix/>
          </a:blip>
          <a:srcRect/>
          <a:stretch/>
        </p:blipFill>
        <p:spPr>
          <a:xfrm>
            <a:off x="793790" y="3362087"/>
            <a:ext cx="566976" cy="566976"/>
          </a:xfrm>
          <a:prstGeom prst="rect">
            <a:avLst/>
          </a:prstGeom>
          <a:noFill/>
          <a:ln>
            <a:noFill/>
          </a:ln>
        </p:spPr>
      </p:pic>
      <p:sp>
        <p:nvSpPr>
          <p:cNvPr id="173" name="Google Shape;173;p22"/>
          <p:cNvSpPr/>
          <p:nvPr/>
        </p:nvSpPr>
        <p:spPr>
          <a:xfrm>
            <a:off x="1644253" y="3362087"/>
            <a:ext cx="3044309" cy="35433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B2E3C"/>
              </a:buClr>
              <a:buSzPts val="2200"/>
              <a:buFont typeface="Bitter"/>
              <a:buNone/>
            </a:pPr>
            <a:r>
              <a:rPr lang="en-US" sz="2200" b="0" i="0" u="none" strike="noStrike" cap="none">
                <a:solidFill>
                  <a:srgbClr val="2B2E3C"/>
                </a:solidFill>
                <a:latin typeface="Bitter"/>
                <a:ea typeface="Bitter"/>
                <a:cs typeface="Bitter"/>
                <a:sym typeface="Bitter"/>
              </a:rPr>
              <a:t>Handles Non-Linearity</a:t>
            </a:r>
            <a:endParaRPr sz="2200" b="0" i="0" u="none" strike="noStrike" cap="none"/>
          </a:p>
        </p:txBody>
      </p:sp>
      <p:sp>
        <p:nvSpPr>
          <p:cNvPr id="174" name="Google Shape;174;p22"/>
          <p:cNvSpPr/>
          <p:nvPr/>
        </p:nvSpPr>
        <p:spPr>
          <a:xfrm>
            <a:off x="1644253" y="3852505"/>
            <a:ext cx="3308152" cy="2177415"/>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0" i="0" u="none" strike="noStrike" cap="none">
                <a:solidFill>
                  <a:srgbClr val="2B2E3C"/>
                </a:solidFill>
                <a:latin typeface="Open Sans"/>
                <a:ea typeface="Open Sans"/>
                <a:cs typeface="Open Sans"/>
                <a:sym typeface="Open Sans"/>
              </a:rPr>
              <a:t>Cricket data doesn't follow straight-line patterns. Random Forest captures complex, non-linear relationships between variables like pitch conditions and scoring rates.</a:t>
            </a:r>
            <a:endParaRPr sz="1750" b="0" i="0" u="none" strike="noStrike" cap="none"/>
          </a:p>
        </p:txBody>
      </p:sp>
      <p:pic>
        <p:nvPicPr>
          <p:cNvPr id="175" name="Google Shape;175;p22" descr="preencoded.png"/>
          <p:cNvPicPr preferRelativeResize="0"/>
          <p:nvPr/>
        </p:nvPicPr>
        <p:blipFill rotWithShape="1">
          <a:blip r:embed="rId4">
            <a:alphaModFix/>
          </a:blip>
          <a:srcRect/>
          <a:stretch/>
        </p:blipFill>
        <p:spPr>
          <a:xfrm>
            <a:off x="5235893" y="3362087"/>
            <a:ext cx="566976" cy="566976"/>
          </a:xfrm>
          <a:prstGeom prst="rect">
            <a:avLst/>
          </a:prstGeom>
          <a:noFill/>
          <a:ln>
            <a:noFill/>
          </a:ln>
        </p:spPr>
      </p:pic>
      <p:sp>
        <p:nvSpPr>
          <p:cNvPr id="176" name="Google Shape;176;p22"/>
          <p:cNvSpPr/>
          <p:nvPr/>
        </p:nvSpPr>
        <p:spPr>
          <a:xfrm>
            <a:off x="6086356" y="3362087"/>
            <a:ext cx="2835235" cy="35433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B2E3C"/>
              </a:buClr>
              <a:buSzPts val="2200"/>
              <a:buFont typeface="Bitter"/>
              <a:buNone/>
            </a:pPr>
            <a:r>
              <a:rPr lang="en-US" sz="2200" b="0" i="0" u="none" strike="noStrike" cap="none">
                <a:solidFill>
                  <a:srgbClr val="2B2E3C"/>
                </a:solidFill>
                <a:latin typeface="Bitter"/>
                <a:ea typeface="Bitter"/>
                <a:cs typeface="Bitter"/>
                <a:sym typeface="Bitter"/>
              </a:rPr>
              <a:t>Robust to Outliers</a:t>
            </a:r>
            <a:endParaRPr sz="2200" b="0" i="0" u="none" strike="noStrike" cap="none"/>
          </a:p>
        </p:txBody>
      </p:sp>
      <p:sp>
        <p:nvSpPr>
          <p:cNvPr id="177" name="Google Shape;177;p22"/>
          <p:cNvSpPr/>
          <p:nvPr/>
        </p:nvSpPr>
        <p:spPr>
          <a:xfrm>
            <a:off x="6086356" y="3852505"/>
            <a:ext cx="3308152" cy="1814513"/>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0" i="0" u="none" strike="noStrike" cap="none">
                <a:solidFill>
                  <a:srgbClr val="2B2E3C"/>
                </a:solidFill>
                <a:latin typeface="Open Sans"/>
                <a:ea typeface="Open Sans"/>
                <a:cs typeface="Open Sans"/>
                <a:sym typeface="Open Sans"/>
              </a:rPr>
              <a:t>Unlike Linear Regression, it isn't easily skewed by a single massive century or a random duck, providing more reliable predictions.</a:t>
            </a:r>
            <a:endParaRPr sz="1750" b="0" i="0" u="none" strike="noStrike" cap="none"/>
          </a:p>
        </p:txBody>
      </p:sp>
      <p:pic>
        <p:nvPicPr>
          <p:cNvPr id="178" name="Google Shape;178;p22" descr="preencoded.png"/>
          <p:cNvPicPr preferRelativeResize="0"/>
          <p:nvPr/>
        </p:nvPicPr>
        <p:blipFill rotWithShape="1">
          <a:blip r:embed="rId5">
            <a:alphaModFix/>
          </a:blip>
          <a:srcRect/>
          <a:stretch/>
        </p:blipFill>
        <p:spPr>
          <a:xfrm>
            <a:off x="9677995" y="3362087"/>
            <a:ext cx="566976" cy="566976"/>
          </a:xfrm>
          <a:prstGeom prst="rect">
            <a:avLst/>
          </a:prstGeom>
          <a:noFill/>
          <a:ln>
            <a:noFill/>
          </a:ln>
        </p:spPr>
      </p:pic>
      <p:sp>
        <p:nvSpPr>
          <p:cNvPr id="179" name="Google Shape;179;p22"/>
          <p:cNvSpPr/>
          <p:nvPr/>
        </p:nvSpPr>
        <p:spPr>
          <a:xfrm>
            <a:off x="10528459" y="3362087"/>
            <a:ext cx="2835235" cy="35433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B2E3C"/>
              </a:buClr>
              <a:buSzPts val="2200"/>
              <a:buFont typeface="Bitter"/>
              <a:buNone/>
            </a:pPr>
            <a:r>
              <a:rPr lang="en-US" sz="2200" b="0" i="0" u="none" strike="noStrike" cap="none">
                <a:solidFill>
                  <a:srgbClr val="2B2E3C"/>
                </a:solidFill>
                <a:latin typeface="Bitter"/>
                <a:ea typeface="Bitter"/>
                <a:cs typeface="Bitter"/>
                <a:sym typeface="Bitter"/>
              </a:rPr>
              <a:t>Feature Importance</a:t>
            </a:r>
            <a:endParaRPr sz="2200" b="0" i="0" u="none" strike="noStrike" cap="none"/>
          </a:p>
        </p:txBody>
      </p:sp>
      <p:sp>
        <p:nvSpPr>
          <p:cNvPr id="180" name="Google Shape;180;p22"/>
          <p:cNvSpPr/>
          <p:nvPr/>
        </p:nvSpPr>
        <p:spPr>
          <a:xfrm>
            <a:off x="10528459" y="3852505"/>
            <a:ext cx="3308152" cy="145161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0" i="0" u="none" strike="noStrike" cap="none">
                <a:solidFill>
                  <a:srgbClr val="2B2E3C"/>
                </a:solidFill>
                <a:latin typeface="Open Sans"/>
                <a:ea typeface="Open Sans"/>
                <a:cs typeface="Open Sans"/>
                <a:sym typeface="Open Sans"/>
              </a:rPr>
              <a:t>Provides clear ranking of which factors (Year, Pitch Rating, etc.) actually drive the scores, enabling actionable insights.</a:t>
            </a:r>
            <a:endParaRPr sz="1750" b="0" i="0" u="none" strike="noStrike" cap="none"/>
          </a:p>
        </p:txBody>
      </p:sp>
      <p:pic>
        <p:nvPicPr>
          <p:cNvPr id="181" name="Google Shape;181;p22"/>
          <p:cNvPicPr preferRelativeResize="0"/>
          <p:nvPr/>
        </p:nvPicPr>
        <p:blipFill>
          <a:blip r:embed="rId6">
            <a:alphaModFix/>
          </a:blip>
          <a:stretch>
            <a:fillRect/>
          </a:stretch>
        </p:blipFill>
        <p:spPr>
          <a:xfrm>
            <a:off x="12789403" y="7778150"/>
            <a:ext cx="1841000" cy="371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3"/>
          <p:cNvSpPr/>
          <p:nvPr/>
        </p:nvSpPr>
        <p:spPr>
          <a:xfrm>
            <a:off x="1052274" y="501848"/>
            <a:ext cx="4538305" cy="567333"/>
          </a:xfrm>
          <a:prstGeom prst="rect">
            <a:avLst/>
          </a:prstGeom>
          <a:noFill/>
          <a:ln>
            <a:noFill/>
          </a:ln>
        </p:spPr>
        <p:txBody>
          <a:bodyPr spcFirstLastPara="1" wrap="square" lIns="0" tIns="0" rIns="0" bIns="0" anchor="t" anchorCtr="0">
            <a:noAutofit/>
          </a:bodyPr>
          <a:lstStyle/>
          <a:p>
            <a:pPr marL="0" marR="0" lvl="0" indent="0" algn="l" rtl="0">
              <a:lnSpc>
                <a:spcPct val="125352"/>
              </a:lnSpc>
              <a:spcBef>
                <a:spcPts val="0"/>
              </a:spcBef>
              <a:spcAft>
                <a:spcPts val="0"/>
              </a:spcAft>
              <a:buClr>
                <a:srgbClr val="2C3F42"/>
              </a:buClr>
              <a:buSzPts val="3550"/>
              <a:buFont typeface="Bitter"/>
              <a:buNone/>
            </a:pPr>
            <a:r>
              <a:rPr lang="en-US" sz="3550" b="0" i="0" u="none" strike="noStrike" cap="none">
                <a:solidFill>
                  <a:srgbClr val="2C3F42"/>
                </a:solidFill>
                <a:latin typeface="Bitter"/>
                <a:ea typeface="Bitter"/>
                <a:cs typeface="Bitter"/>
                <a:sym typeface="Bitter"/>
              </a:rPr>
              <a:t>Key Visualizations</a:t>
            </a:r>
            <a:endParaRPr sz="3550" b="0" i="0" u="none" strike="noStrike" cap="none"/>
          </a:p>
        </p:txBody>
      </p:sp>
      <p:sp>
        <p:nvSpPr>
          <p:cNvPr id="188" name="Google Shape;188;p23"/>
          <p:cNvSpPr/>
          <p:nvPr/>
        </p:nvSpPr>
        <p:spPr>
          <a:xfrm>
            <a:off x="1052275" y="7445100"/>
            <a:ext cx="10326000" cy="784500"/>
          </a:xfrm>
          <a:prstGeom prst="rect">
            <a:avLst/>
          </a:prstGeom>
          <a:noFill/>
          <a:ln>
            <a:noFill/>
          </a:ln>
        </p:spPr>
        <p:txBody>
          <a:bodyPr spcFirstLastPara="1" wrap="square" lIns="0" tIns="0" rIns="0" bIns="0" anchor="t" anchorCtr="0">
            <a:noAutofit/>
          </a:bodyPr>
          <a:lstStyle/>
          <a:p>
            <a:pPr marL="0" marR="0" lvl="0" indent="0" algn="l" rtl="0">
              <a:lnSpc>
                <a:spcPct val="146428"/>
              </a:lnSpc>
              <a:spcBef>
                <a:spcPts val="0"/>
              </a:spcBef>
              <a:spcAft>
                <a:spcPts val="0"/>
              </a:spcAft>
              <a:buClr>
                <a:srgbClr val="2B2E3C"/>
              </a:buClr>
              <a:buSzPts val="1400"/>
              <a:buFont typeface="Open Sans"/>
              <a:buNone/>
            </a:pPr>
            <a:r>
              <a:rPr lang="en-US" sz="1400" b="0" i="0" u="none" strike="noStrike" cap="none">
                <a:solidFill>
                  <a:srgbClr val="2B2E3C"/>
                </a:solidFill>
                <a:latin typeface="Open Sans"/>
                <a:ea typeface="Open Sans"/>
                <a:cs typeface="Open Sans"/>
                <a:sym typeface="Open Sans"/>
              </a:rPr>
              <a:t>Shows the actual "Downfall" trend over 2015-2025, revealing the gradual decline in innings totals,</a:t>
            </a:r>
            <a:r>
              <a:rPr lang="en-US">
                <a:solidFill>
                  <a:srgbClr val="2B2E3C"/>
                </a:solidFill>
                <a:latin typeface="Open Sans"/>
                <a:ea typeface="Open Sans"/>
                <a:cs typeface="Open Sans"/>
                <a:sym typeface="Open Sans"/>
              </a:rPr>
              <a:t> as we can see the year 2019 has highest average, but since then the graph has a drop-off.</a:t>
            </a:r>
            <a:endParaRPr sz="1400" b="0" i="0" u="none" strike="noStrike" cap="none"/>
          </a:p>
        </p:txBody>
      </p:sp>
      <p:sp>
        <p:nvSpPr>
          <p:cNvPr id="189" name="Google Shape;189;p23"/>
          <p:cNvSpPr/>
          <p:nvPr/>
        </p:nvSpPr>
        <p:spPr>
          <a:xfrm>
            <a:off x="1052225" y="1344349"/>
            <a:ext cx="4455000" cy="371400"/>
          </a:xfrm>
          <a:prstGeom prst="rect">
            <a:avLst/>
          </a:prstGeom>
          <a:noFill/>
          <a:ln>
            <a:noFill/>
          </a:ln>
        </p:spPr>
        <p:txBody>
          <a:bodyPr spcFirstLastPara="1" wrap="square" lIns="0" tIns="0" rIns="0" bIns="0" anchor="t" anchorCtr="0">
            <a:noAutofit/>
          </a:bodyPr>
          <a:lstStyle/>
          <a:p>
            <a:pPr marL="0" marR="0" lvl="0" indent="0" algn="l" rtl="0">
              <a:lnSpc>
                <a:spcPct val="125352"/>
              </a:lnSpc>
              <a:spcBef>
                <a:spcPts val="0"/>
              </a:spcBef>
              <a:spcAft>
                <a:spcPts val="0"/>
              </a:spcAft>
              <a:buClr>
                <a:srgbClr val="2C3F42"/>
              </a:buClr>
              <a:buSzPts val="3550"/>
              <a:buFont typeface="Bitter"/>
              <a:buNone/>
            </a:pPr>
            <a:r>
              <a:rPr lang="en-US" sz="2550">
                <a:solidFill>
                  <a:srgbClr val="2C3F42"/>
                </a:solidFill>
                <a:latin typeface="Bitter"/>
                <a:ea typeface="Bitter"/>
                <a:cs typeface="Bitter"/>
                <a:sym typeface="Bitter"/>
              </a:rPr>
              <a:t>Yearly Average Runs</a:t>
            </a:r>
            <a:endParaRPr sz="2550" b="0" i="0" u="none" strike="noStrike" cap="none"/>
          </a:p>
        </p:txBody>
      </p:sp>
      <p:pic>
        <p:nvPicPr>
          <p:cNvPr id="190" name="Google Shape;190;p23"/>
          <p:cNvPicPr preferRelativeResize="0"/>
          <p:nvPr/>
        </p:nvPicPr>
        <p:blipFill rotWithShape="1">
          <a:blip r:embed="rId3">
            <a:alphaModFix/>
          </a:blip>
          <a:srcRect l="3600" t="3994" r="3368"/>
          <a:stretch/>
        </p:blipFill>
        <p:spPr>
          <a:xfrm>
            <a:off x="3252163" y="2019825"/>
            <a:ext cx="8126076" cy="5121188"/>
          </a:xfrm>
          <a:prstGeom prst="rect">
            <a:avLst/>
          </a:prstGeom>
          <a:noFill/>
          <a:ln>
            <a:noFill/>
          </a:ln>
        </p:spPr>
      </p:pic>
      <p:pic>
        <p:nvPicPr>
          <p:cNvPr id="191" name="Google Shape;191;p23"/>
          <p:cNvPicPr preferRelativeResize="0"/>
          <p:nvPr/>
        </p:nvPicPr>
        <p:blipFill>
          <a:blip r:embed="rId4">
            <a:alphaModFix/>
          </a:blip>
          <a:stretch>
            <a:fillRect/>
          </a:stretch>
        </p:blipFill>
        <p:spPr>
          <a:xfrm>
            <a:off x="12789403" y="7778150"/>
            <a:ext cx="1841000" cy="371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pic>
        <p:nvPicPr>
          <p:cNvPr id="197" name="Google Shape;197;p24"/>
          <p:cNvPicPr preferRelativeResize="0"/>
          <p:nvPr/>
        </p:nvPicPr>
        <p:blipFill>
          <a:blip r:embed="rId3">
            <a:alphaModFix/>
          </a:blip>
          <a:stretch>
            <a:fillRect/>
          </a:stretch>
        </p:blipFill>
        <p:spPr>
          <a:xfrm>
            <a:off x="12789403" y="7778150"/>
            <a:ext cx="1841000" cy="371475"/>
          </a:xfrm>
          <a:prstGeom prst="rect">
            <a:avLst/>
          </a:prstGeom>
          <a:noFill/>
          <a:ln>
            <a:noFill/>
          </a:ln>
        </p:spPr>
      </p:pic>
      <p:sp>
        <p:nvSpPr>
          <p:cNvPr id="198" name="Google Shape;198;p24"/>
          <p:cNvSpPr/>
          <p:nvPr/>
        </p:nvSpPr>
        <p:spPr>
          <a:xfrm>
            <a:off x="1052275" y="7445100"/>
            <a:ext cx="10924500" cy="784500"/>
          </a:xfrm>
          <a:prstGeom prst="rect">
            <a:avLst/>
          </a:prstGeom>
          <a:noFill/>
          <a:ln>
            <a:noFill/>
          </a:ln>
        </p:spPr>
        <p:txBody>
          <a:bodyPr spcFirstLastPara="1" wrap="square" lIns="0" tIns="0" rIns="0" bIns="0" anchor="t" anchorCtr="0">
            <a:noAutofit/>
          </a:bodyPr>
          <a:lstStyle/>
          <a:p>
            <a:pPr marL="0" marR="0" lvl="0" indent="0" algn="l" rtl="0">
              <a:lnSpc>
                <a:spcPct val="146428"/>
              </a:lnSpc>
              <a:spcBef>
                <a:spcPts val="0"/>
              </a:spcBef>
              <a:spcAft>
                <a:spcPts val="0"/>
              </a:spcAft>
              <a:buClr>
                <a:srgbClr val="2B2E3C"/>
              </a:buClr>
              <a:buSzPts val="1400"/>
              <a:buFont typeface="Open Sans"/>
              <a:buNone/>
            </a:pPr>
            <a:r>
              <a:rPr lang="en-US">
                <a:solidFill>
                  <a:schemeClr val="dk1"/>
                </a:solidFill>
                <a:latin typeface="Open Sans"/>
                <a:ea typeface="Open Sans"/>
                <a:cs typeface="Open Sans"/>
                <a:sym typeface="Open Sans"/>
              </a:rPr>
              <a:t>The heatmap suggests that balls faced and pitch conditions are the most influential factors for run scoring, while variables like toss decision and player role have minimal impact. It also indicates a slight downward trend in run scoring across years and innings.</a:t>
            </a:r>
            <a:endParaRPr i="0" u="none" strike="noStrike" cap="none">
              <a:latin typeface="Open Sans"/>
              <a:ea typeface="Open Sans"/>
              <a:cs typeface="Open Sans"/>
              <a:sym typeface="Open Sans"/>
            </a:endParaRPr>
          </a:p>
        </p:txBody>
      </p:sp>
      <p:sp>
        <p:nvSpPr>
          <p:cNvPr id="199" name="Google Shape;199;p24"/>
          <p:cNvSpPr/>
          <p:nvPr/>
        </p:nvSpPr>
        <p:spPr>
          <a:xfrm>
            <a:off x="965975" y="705975"/>
            <a:ext cx="6939300" cy="371400"/>
          </a:xfrm>
          <a:prstGeom prst="rect">
            <a:avLst/>
          </a:prstGeom>
          <a:noFill/>
          <a:ln>
            <a:noFill/>
          </a:ln>
        </p:spPr>
        <p:txBody>
          <a:bodyPr spcFirstLastPara="1" wrap="square" lIns="0" tIns="0" rIns="0" bIns="0" anchor="t" anchorCtr="0">
            <a:noAutofit/>
          </a:bodyPr>
          <a:lstStyle/>
          <a:p>
            <a:pPr marL="0" marR="0" lvl="0" indent="0" algn="l" rtl="0">
              <a:lnSpc>
                <a:spcPct val="125352"/>
              </a:lnSpc>
              <a:spcBef>
                <a:spcPts val="0"/>
              </a:spcBef>
              <a:spcAft>
                <a:spcPts val="0"/>
              </a:spcAft>
              <a:buClr>
                <a:srgbClr val="2C3F42"/>
              </a:buClr>
              <a:buSzPts val="3550"/>
              <a:buFont typeface="Bitter"/>
              <a:buNone/>
            </a:pPr>
            <a:r>
              <a:rPr lang="en-US" sz="2550">
                <a:solidFill>
                  <a:srgbClr val="2C3F42"/>
                </a:solidFill>
                <a:latin typeface="Bitter"/>
                <a:ea typeface="Bitter"/>
                <a:cs typeface="Bitter"/>
                <a:sym typeface="Bitter"/>
              </a:rPr>
              <a:t>Feature Comparison: Runs Vs Other Factors</a:t>
            </a:r>
            <a:endParaRPr sz="2550" b="0" i="0" u="none" strike="noStrike" cap="none"/>
          </a:p>
        </p:txBody>
      </p:sp>
      <p:pic>
        <p:nvPicPr>
          <p:cNvPr id="200" name="Google Shape;200;p24"/>
          <p:cNvPicPr preferRelativeResize="0"/>
          <p:nvPr/>
        </p:nvPicPr>
        <p:blipFill>
          <a:blip r:embed="rId3">
            <a:alphaModFix/>
          </a:blip>
          <a:stretch>
            <a:fillRect/>
          </a:stretch>
        </p:blipFill>
        <p:spPr>
          <a:xfrm>
            <a:off x="12789403" y="7795403"/>
            <a:ext cx="1841000" cy="371475"/>
          </a:xfrm>
          <a:prstGeom prst="rect">
            <a:avLst/>
          </a:prstGeom>
          <a:noFill/>
          <a:ln>
            <a:noFill/>
          </a:ln>
        </p:spPr>
      </p:pic>
      <p:pic>
        <p:nvPicPr>
          <p:cNvPr id="201" name="Google Shape;201;p24"/>
          <p:cNvPicPr preferRelativeResize="0"/>
          <p:nvPr/>
        </p:nvPicPr>
        <p:blipFill rotWithShape="1">
          <a:blip r:embed="rId4">
            <a:alphaModFix/>
          </a:blip>
          <a:srcRect t="4068"/>
          <a:stretch/>
        </p:blipFill>
        <p:spPr>
          <a:xfrm>
            <a:off x="4016550" y="1235562"/>
            <a:ext cx="6597300" cy="60131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pic>
        <p:nvPicPr>
          <p:cNvPr id="207" name="Google Shape;207;p25"/>
          <p:cNvPicPr preferRelativeResize="0"/>
          <p:nvPr/>
        </p:nvPicPr>
        <p:blipFill rotWithShape="1">
          <a:blip r:embed="rId3">
            <a:alphaModFix/>
          </a:blip>
          <a:srcRect l="4039" t="4435" r="4159" b="-10"/>
          <a:stretch/>
        </p:blipFill>
        <p:spPr>
          <a:xfrm>
            <a:off x="2286000" y="1261413"/>
            <a:ext cx="10058400" cy="5706776"/>
          </a:xfrm>
          <a:prstGeom prst="rect">
            <a:avLst/>
          </a:prstGeom>
          <a:noFill/>
          <a:ln>
            <a:noFill/>
          </a:ln>
        </p:spPr>
      </p:pic>
      <p:pic>
        <p:nvPicPr>
          <p:cNvPr id="208" name="Google Shape;208;p25"/>
          <p:cNvPicPr preferRelativeResize="0"/>
          <p:nvPr/>
        </p:nvPicPr>
        <p:blipFill>
          <a:blip r:embed="rId4">
            <a:alphaModFix/>
          </a:blip>
          <a:stretch>
            <a:fillRect/>
          </a:stretch>
        </p:blipFill>
        <p:spPr>
          <a:xfrm>
            <a:off x="12789403" y="7778150"/>
            <a:ext cx="1841000" cy="371475"/>
          </a:xfrm>
          <a:prstGeom prst="rect">
            <a:avLst/>
          </a:prstGeom>
          <a:noFill/>
          <a:ln>
            <a:noFill/>
          </a:ln>
        </p:spPr>
      </p:pic>
      <p:sp>
        <p:nvSpPr>
          <p:cNvPr id="209" name="Google Shape;209;p25"/>
          <p:cNvSpPr/>
          <p:nvPr/>
        </p:nvSpPr>
        <p:spPr>
          <a:xfrm>
            <a:off x="965975" y="705975"/>
            <a:ext cx="6939300" cy="371400"/>
          </a:xfrm>
          <a:prstGeom prst="rect">
            <a:avLst/>
          </a:prstGeom>
          <a:noFill/>
          <a:ln>
            <a:noFill/>
          </a:ln>
        </p:spPr>
        <p:txBody>
          <a:bodyPr spcFirstLastPara="1" wrap="square" lIns="0" tIns="0" rIns="0" bIns="0" anchor="t" anchorCtr="0">
            <a:noAutofit/>
          </a:bodyPr>
          <a:lstStyle/>
          <a:p>
            <a:pPr marL="0" marR="0" lvl="0" indent="0" algn="l" rtl="0">
              <a:lnSpc>
                <a:spcPct val="125352"/>
              </a:lnSpc>
              <a:spcBef>
                <a:spcPts val="0"/>
              </a:spcBef>
              <a:spcAft>
                <a:spcPts val="0"/>
              </a:spcAft>
              <a:buClr>
                <a:srgbClr val="2C3F42"/>
              </a:buClr>
              <a:buSzPts val="3550"/>
              <a:buFont typeface="Bitter"/>
              <a:buNone/>
            </a:pPr>
            <a:r>
              <a:rPr lang="en-US" sz="2550">
                <a:solidFill>
                  <a:srgbClr val="2C3F42"/>
                </a:solidFill>
                <a:latin typeface="Bitter"/>
                <a:ea typeface="Bitter"/>
                <a:cs typeface="Bitter"/>
                <a:sym typeface="Bitter"/>
              </a:rPr>
              <a:t>Feature Importance</a:t>
            </a:r>
            <a:endParaRPr sz="2550" b="0" i="0" u="none" strike="noStrike" cap="none"/>
          </a:p>
        </p:txBody>
      </p:sp>
      <p:sp>
        <p:nvSpPr>
          <p:cNvPr id="210" name="Google Shape;210;p25"/>
          <p:cNvSpPr/>
          <p:nvPr/>
        </p:nvSpPr>
        <p:spPr>
          <a:xfrm>
            <a:off x="728055" y="7111725"/>
            <a:ext cx="12849900" cy="522900"/>
          </a:xfrm>
          <a:prstGeom prst="rect">
            <a:avLst/>
          </a:prstGeom>
          <a:noFill/>
          <a:ln>
            <a:noFill/>
          </a:ln>
        </p:spPr>
        <p:txBody>
          <a:bodyPr spcFirstLastPara="1" wrap="square" lIns="0" tIns="0" rIns="0" bIns="0" anchor="t" anchorCtr="0">
            <a:noAutofit/>
          </a:bodyPr>
          <a:lstStyle/>
          <a:p>
            <a:pPr marL="0" marR="0" lvl="0" indent="0" algn="l" rtl="0">
              <a:lnSpc>
                <a:spcPct val="146428"/>
              </a:lnSpc>
              <a:spcBef>
                <a:spcPts val="0"/>
              </a:spcBef>
              <a:spcAft>
                <a:spcPts val="0"/>
              </a:spcAft>
              <a:buClr>
                <a:srgbClr val="2B2E3C"/>
              </a:buClr>
              <a:buSzPts val="1400"/>
              <a:buFont typeface="Open Sans"/>
              <a:buNone/>
            </a:pPr>
            <a:r>
              <a:rPr lang="en-US" sz="1400" b="0" i="0" u="none" strike="noStrike" cap="none">
                <a:solidFill>
                  <a:srgbClr val="2B2E3C"/>
                </a:solidFill>
                <a:latin typeface="Open Sans"/>
                <a:ea typeface="Open Sans"/>
                <a:cs typeface="Open Sans"/>
                <a:sym typeface="Open Sans"/>
              </a:rPr>
              <a:t>Bar chart shows what the model identifies as most important drivers of scoring performance, as you can o</a:t>
            </a:r>
            <a:r>
              <a:rPr lang="en-US">
                <a:solidFill>
                  <a:srgbClr val="2B2E3C"/>
                </a:solidFill>
                <a:latin typeface="Open Sans"/>
                <a:ea typeface="Open Sans"/>
                <a:cs typeface="Open Sans"/>
                <a:sym typeface="Open Sans"/>
              </a:rPr>
              <a:t>bserve, year and venue are most impactful metrics when cosodereing analyzing the downfall. Year indicates its not just other factors but batsmen from dip as years pass by.</a:t>
            </a:r>
            <a:endParaRPr sz="1400" b="0" i="0" u="none" strike="noStrike" cap="non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6"/>
          <p:cNvSpPr/>
          <p:nvPr/>
        </p:nvSpPr>
        <p:spPr>
          <a:xfrm>
            <a:off x="1349170" y="6943375"/>
            <a:ext cx="12870600" cy="784500"/>
          </a:xfrm>
          <a:prstGeom prst="rect">
            <a:avLst/>
          </a:prstGeom>
          <a:noFill/>
          <a:ln>
            <a:noFill/>
          </a:ln>
        </p:spPr>
        <p:txBody>
          <a:bodyPr spcFirstLastPara="1" wrap="square" lIns="0" tIns="0" rIns="0" bIns="0" anchor="t" anchorCtr="0">
            <a:noAutofit/>
          </a:bodyPr>
          <a:lstStyle/>
          <a:p>
            <a:pPr marL="0" marR="0" lvl="0" indent="0" algn="l" rtl="0">
              <a:lnSpc>
                <a:spcPct val="146428"/>
              </a:lnSpc>
              <a:spcBef>
                <a:spcPts val="0"/>
              </a:spcBef>
              <a:spcAft>
                <a:spcPts val="0"/>
              </a:spcAft>
              <a:buClr>
                <a:srgbClr val="2B2E3C"/>
              </a:buClr>
              <a:buSzPts val="1400"/>
              <a:buFont typeface="Open Sans"/>
              <a:buNone/>
            </a:pPr>
            <a:r>
              <a:rPr lang="en-US" sz="1400" b="0" i="0" u="none" strike="noStrike" cap="none" dirty="0">
                <a:solidFill>
                  <a:srgbClr val="2B2E3C"/>
                </a:solidFill>
                <a:latin typeface="Open Sans"/>
                <a:ea typeface="Open Sans"/>
                <a:cs typeface="Open Sans"/>
                <a:sym typeface="Open Sans"/>
              </a:rPr>
              <a:t>Reveals whether pitches are getting harder to bat on</a:t>
            </a:r>
            <a:r>
              <a:rPr lang="en-US" sz="1400" b="0" i="0" u="none" strike="noStrike" cap="none" dirty="0" smtClean="0">
                <a:solidFill>
                  <a:srgbClr val="2B2E3C"/>
                </a:solidFill>
                <a:latin typeface="Open Sans"/>
                <a:ea typeface="Open Sans"/>
                <a:cs typeface="Open Sans"/>
                <a:sym typeface="Open Sans"/>
              </a:rPr>
              <a:t>, </a:t>
            </a:r>
            <a:r>
              <a:rPr lang="en-US" dirty="0" smtClean="0">
                <a:solidFill>
                  <a:srgbClr val="2B2E3C"/>
                </a:solidFill>
                <a:latin typeface="Open Sans"/>
                <a:ea typeface="Open Sans"/>
                <a:cs typeface="Open Sans"/>
                <a:sym typeface="Open Sans"/>
              </a:rPr>
              <a:t>the </a:t>
            </a:r>
            <a:r>
              <a:rPr lang="en-US" dirty="0">
                <a:solidFill>
                  <a:srgbClr val="2B2E3C"/>
                </a:solidFill>
                <a:latin typeface="Open Sans"/>
                <a:ea typeface="Open Sans"/>
                <a:cs typeface="Open Sans"/>
                <a:sym typeface="Open Sans"/>
              </a:rPr>
              <a:t>downfall isn't just players losing form; it's the fact that these extreme pitches make it mathematically improbable to score big runs.</a:t>
            </a:r>
            <a:endParaRPr sz="1400" b="0" i="0" u="none" strike="noStrike" cap="none"/>
          </a:p>
        </p:txBody>
      </p:sp>
      <p:pic>
        <p:nvPicPr>
          <p:cNvPr id="217" name="Google Shape;217;p26"/>
          <p:cNvPicPr preferRelativeResize="0"/>
          <p:nvPr/>
        </p:nvPicPr>
        <p:blipFill>
          <a:blip r:embed="rId3">
            <a:alphaModFix/>
          </a:blip>
          <a:stretch>
            <a:fillRect/>
          </a:stretch>
        </p:blipFill>
        <p:spPr>
          <a:xfrm>
            <a:off x="2567775" y="704475"/>
            <a:ext cx="9344025" cy="5686425"/>
          </a:xfrm>
          <a:prstGeom prst="rect">
            <a:avLst/>
          </a:prstGeom>
          <a:noFill/>
          <a:ln>
            <a:noFill/>
          </a:ln>
        </p:spPr>
      </p:pic>
      <p:sp>
        <p:nvSpPr>
          <p:cNvPr id="218" name="Google Shape;218;p26"/>
          <p:cNvSpPr/>
          <p:nvPr/>
        </p:nvSpPr>
        <p:spPr>
          <a:xfrm>
            <a:off x="586400" y="240149"/>
            <a:ext cx="4455000" cy="371400"/>
          </a:xfrm>
          <a:prstGeom prst="rect">
            <a:avLst/>
          </a:prstGeom>
          <a:noFill/>
          <a:ln>
            <a:noFill/>
          </a:ln>
        </p:spPr>
        <p:txBody>
          <a:bodyPr spcFirstLastPara="1" wrap="square" lIns="0" tIns="0" rIns="0" bIns="0" anchor="t" anchorCtr="0">
            <a:noAutofit/>
          </a:bodyPr>
          <a:lstStyle/>
          <a:p>
            <a:pPr marL="0" lvl="0" indent="0" algn="l" rtl="0">
              <a:lnSpc>
                <a:spcPct val="125714"/>
              </a:lnSpc>
              <a:spcBef>
                <a:spcPts val="0"/>
              </a:spcBef>
              <a:spcAft>
                <a:spcPts val="0"/>
              </a:spcAft>
              <a:buClr>
                <a:srgbClr val="2B2E3C"/>
              </a:buClr>
              <a:buSzPts val="1750"/>
              <a:buFont typeface="Bitter"/>
              <a:buNone/>
            </a:pPr>
            <a:r>
              <a:rPr lang="en-US" sz="2250">
                <a:solidFill>
                  <a:srgbClr val="2B2E3C"/>
                </a:solidFill>
                <a:latin typeface="Bitter"/>
                <a:ea typeface="Bitter"/>
                <a:cs typeface="Bitter"/>
                <a:sym typeface="Bitter"/>
              </a:rPr>
              <a:t>Pitch Rating vs. Average Runs</a:t>
            </a:r>
            <a:endParaRPr sz="2250"/>
          </a:p>
          <a:p>
            <a:pPr marL="0" marR="0" lvl="0" indent="0" algn="l" rtl="0">
              <a:lnSpc>
                <a:spcPct val="125352"/>
              </a:lnSpc>
              <a:spcBef>
                <a:spcPts val="0"/>
              </a:spcBef>
              <a:spcAft>
                <a:spcPts val="0"/>
              </a:spcAft>
              <a:buClr>
                <a:srgbClr val="2C3F42"/>
              </a:buClr>
              <a:buSzPts val="3550"/>
              <a:buFont typeface="Bitter"/>
              <a:buNone/>
            </a:pPr>
            <a:endParaRPr sz="2550">
              <a:solidFill>
                <a:srgbClr val="2C3F42"/>
              </a:solidFill>
              <a:latin typeface="Bitter"/>
              <a:ea typeface="Bitter"/>
              <a:cs typeface="Bitter"/>
              <a:sym typeface="Bitter"/>
            </a:endParaRPr>
          </a:p>
        </p:txBody>
      </p:sp>
      <p:pic>
        <p:nvPicPr>
          <p:cNvPr id="219" name="Google Shape;219;p26"/>
          <p:cNvPicPr preferRelativeResize="0"/>
          <p:nvPr/>
        </p:nvPicPr>
        <p:blipFill>
          <a:blip r:embed="rId4">
            <a:alphaModFix/>
          </a:blip>
          <a:stretch>
            <a:fillRect/>
          </a:stretch>
        </p:blipFill>
        <p:spPr>
          <a:xfrm>
            <a:off x="12789403" y="7778150"/>
            <a:ext cx="1841000" cy="371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pic>
        <p:nvPicPr>
          <p:cNvPr id="225" name="Google Shape;225;p27"/>
          <p:cNvPicPr preferRelativeResize="0"/>
          <p:nvPr/>
        </p:nvPicPr>
        <p:blipFill>
          <a:blip r:embed="rId3">
            <a:alphaModFix/>
          </a:blip>
          <a:stretch>
            <a:fillRect/>
          </a:stretch>
        </p:blipFill>
        <p:spPr>
          <a:xfrm>
            <a:off x="12789403" y="7778150"/>
            <a:ext cx="1841000" cy="371475"/>
          </a:xfrm>
          <a:prstGeom prst="rect">
            <a:avLst/>
          </a:prstGeom>
          <a:noFill/>
          <a:ln>
            <a:noFill/>
          </a:ln>
        </p:spPr>
      </p:pic>
      <p:pic>
        <p:nvPicPr>
          <p:cNvPr id="226" name="Google Shape;226;p27"/>
          <p:cNvPicPr preferRelativeResize="0"/>
          <p:nvPr/>
        </p:nvPicPr>
        <p:blipFill>
          <a:blip r:embed="rId3">
            <a:alphaModFix/>
          </a:blip>
          <a:stretch>
            <a:fillRect/>
          </a:stretch>
        </p:blipFill>
        <p:spPr>
          <a:xfrm>
            <a:off x="12789403" y="7778150"/>
            <a:ext cx="1841000" cy="371475"/>
          </a:xfrm>
          <a:prstGeom prst="rect">
            <a:avLst/>
          </a:prstGeom>
          <a:noFill/>
          <a:ln>
            <a:noFill/>
          </a:ln>
        </p:spPr>
      </p:pic>
      <p:pic>
        <p:nvPicPr>
          <p:cNvPr id="227" name="Google Shape;227;p27"/>
          <p:cNvPicPr preferRelativeResize="0"/>
          <p:nvPr/>
        </p:nvPicPr>
        <p:blipFill rotWithShape="1">
          <a:blip r:embed="rId4">
            <a:alphaModFix/>
          </a:blip>
          <a:srcRect l="7028" t="5963" r="8911" b="8851"/>
          <a:stretch/>
        </p:blipFill>
        <p:spPr>
          <a:xfrm>
            <a:off x="1613150" y="904050"/>
            <a:ext cx="11404100" cy="5734725"/>
          </a:xfrm>
          <a:prstGeom prst="rect">
            <a:avLst/>
          </a:prstGeom>
          <a:noFill/>
          <a:ln>
            <a:noFill/>
          </a:ln>
        </p:spPr>
      </p:pic>
      <p:sp>
        <p:nvSpPr>
          <p:cNvPr id="228" name="Google Shape;228;p27"/>
          <p:cNvSpPr/>
          <p:nvPr/>
        </p:nvSpPr>
        <p:spPr>
          <a:xfrm>
            <a:off x="586400" y="240149"/>
            <a:ext cx="4455000" cy="371400"/>
          </a:xfrm>
          <a:prstGeom prst="rect">
            <a:avLst/>
          </a:prstGeom>
          <a:noFill/>
          <a:ln>
            <a:noFill/>
          </a:ln>
        </p:spPr>
        <p:txBody>
          <a:bodyPr spcFirstLastPara="1" wrap="square" lIns="0" tIns="0" rIns="0" bIns="0" anchor="t" anchorCtr="0">
            <a:noAutofit/>
          </a:bodyPr>
          <a:lstStyle/>
          <a:p>
            <a:pPr marL="0" lvl="0" indent="0" algn="l" rtl="0">
              <a:lnSpc>
                <a:spcPct val="125714"/>
              </a:lnSpc>
              <a:spcBef>
                <a:spcPts val="0"/>
              </a:spcBef>
              <a:spcAft>
                <a:spcPts val="0"/>
              </a:spcAft>
              <a:buClr>
                <a:srgbClr val="2B2E3C"/>
              </a:buClr>
              <a:buSzPts val="1750"/>
              <a:buFont typeface="Bitter"/>
              <a:buNone/>
            </a:pPr>
            <a:r>
              <a:rPr lang="en-US" sz="2250">
                <a:solidFill>
                  <a:srgbClr val="2B2E3C"/>
                </a:solidFill>
                <a:latin typeface="Bitter"/>
                <a:ea typeface="Bitter"/>
                <a:cs typeface="Bitter"/>
                <a:sym typeface="Bitter"/>
              </a:rPr>
              <a:t>Decision Tree</a:t>
            </a:r>
            <a:endParaRPr sz="2250"/>
          </a:p>
          <a:p>
            <a:pPr marL="0" marR="0" lvl="0" indent="0" algn="l" rtl="0">
              <a:lnSpc>
                <a:spcPct val="125352"/>
              </a:lnSpc>
              <a:spcBef>
                <a:spcPts val="0"/>
              </a:spcBef>
              <a:spcAft>
                <a:spcPts val="0"/>
              </a:spcAft>
              <a:buClr>
                <a:srgbClr val="2C3F42"/>
              </a:buClr>
              <a:buSzPts val="3550"/>
              <a:buFont typeface="Bitter"/>
              <a:buNone/>
            </a:pPr>
            <a:endParaRPr sz="2550">
              <a:solidFill>
                <a:srgbClr val="2C3F42"/>
              </a:solidFill>
              <a:latin typeface="Bitter"/>
              <a:ea typeface="Bitter"/>
              <a:cs typeface="Bitter"/>
              <a:sym typeface="Bitter"/>
            </a:endParaRPr>
          </a:p>
        </p:txBody>
      </p:sp>
      <p:sp>
        <p:nvSpPr>
          <p:cNvPr id="229" name="Google Shape;229;p27"/>
          <p:cNvSpPr/>
          <p:nvPr/>
        </p:nvSpPr>
        <p:spPr>
          <a:xfrm>
            <a:off x="1349170" y="6943375"/>
            <a:ext cx="12870600" cy="784500"/>
          </a:xfrm>
          <a:prstGeom prst="rect">
            <a:avLst/>
          </a:prstGeom>
          <a:noFill/>
          <a:ln>
            <a:noFill/>
          </a:ln>
        </p:spPr>
        <p:txBody>
          <a:bodyPr spcFirstLastPara="1" wrap="square" lIns="0" tIns="0" rIns="0" bIns="0" anchor="t" anchorCtr="0">
            <a:noAutofit/>
          </a:bodyPr>
          <a:lstStyle/>
          <a:p>
            <a:pPr marL="0" marR="0" lvl="0" indent="0" algn="l" rtl="0">
              <a:lnSpc>
                <a:spcPct val="146428"/>
              </a:lnSpc>
              <a:spcBef>
                <a:spcPts val="0"/>
              </a:spcBef>
              <a:spcAft>
                <a:spcPts val="0"/>
              </a:spcAft>
              <a:buClr>
                <a:srgbClr val="2B2E3C"/>
              </a:buClr>
              <a:buSzPts val="1400"/>
              <a:buFont typeface="Open Sans"/>
              <a:buNone/>
            </a:pPr>
            <a:r>
              <a:rPr lang="en-US">
                <a:solidFill>
                  <a:srgbClr val="2B2E3C"/>
                </a:solidFill>
                <a:latin typeface="Open Sans"/>
                <a:ea typeface="Open Sans"/>
                <a:cs typeface="Open Sans"/>
                <a:sym typeface="Open Sans"/>
              </a:rPr>
              <a:t>This is one of the decision tree considered in Random Forest Regression Model. This shows how classification is made when considering factors for analysis. Here Pitch_rating, Pitch_type, year, opponent, role and venue are considered for classification </a:t>
            </a:r>
            <a:endParaRPr sz="1400" b="0" i="0" u="none" strike="noStrike" cap="non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8"/>
          <p:cNvSpPr/>
          <p:nvPr/>
        </p:nvSpPr>
        <p:spPr>
          <a:xfrm>
            <a:off x="793790" y="1271349"/>
            <a:ext cx="11879260" cy="708779"/>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2C3F42"/>
              </a:buClr>
              <a:buSzPts val="4450"/>
              <a:buFont typeface="Bitter"/>
              <a:buNone/>
            </a:pPr>
            <a:r>
              <a:rPr lang="en-US" sz="4450" b="0" i="0" u="none" strike="noStrike" cap="none" dirty="0">
                <a:solidFill>
                  <a:srgbClr val="2C3F42"/>
                </a:solidFill>
                <a:latin typeface="Bitter"/>
                <a:ea typeface="Bitter"/>
                <a:cs typeface="Bitter"/>
                <a:sym typeface="Bitter"/>
              </a:rPr>
              <a:t>Performance: Training vs. Testing Accuracy</a:t>
            </a:r>
            <a:endParaRPr sz="4450" b="0" i="0" u="none" strike="noStrike" cap="none"/>
          </a:p>
        </p:txBody>
      </p:sp>
      <p:sp>
        <p:nvSpPr>
          <p:cNvPr id="236" name="Google Shape;236;p28"/>
          <p:cNvSpPr/>
          <p:nvPr/>
        </p:nvSpPr>
        <p:spPr>
          <a:xfrm>
            <a:off x="793800" y="2547100"/>
            <a:ext cx="4311600" cy="748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2B2E3C"/>
              </a:buClr>
              <a:buSzPts val="5850"/>
              <a:buFont typeface="Bitter"/>
              <a:buNone/>
            </a:pPr>
            <a:r>
              <a:rPr lang="en-US" sz="5850" b="0" i="0" u="none" strike="noStrike" cap="none">
                <a:solidFill>
                  <a:srgbClr val="2B2E3C"/>
                </a:solidFill>
                <a:latin typeface="Bitter"/>
                <a:ea typeface="Bitter"/>
                <a:cs typeface="Bitter"/>
                <a:sym typeface="Bitter"/>
              </a:rPr>
              <a:t>0.58</a:t>
            </a:r>
            <a:endParaRPr sz="5850" b="0" i="0" u="none" strike="noStrike" cap="none"/>
          </a:p>
        </p:txBody>
      </p:sp>
      <p:sp>
        <p:nvSpPr>
          <p:cNvPr id="237" name="Google Shape;237;p28"/>
          <p:cNvSpPr/>
          <p:nvPr/>
        </p:nvSpPr>
        <p:spPr>
          <a:xfrm>
            <a:off x="1796547" y="3578900"/>
            <a:ext cx="2306100" cy="354300"/>
          </a:xfrm>
          <a:prstGeom prst="rect">
            <a:avLst/>
          </a:prstGeom>
          <a:noFill/>
          <a:ln>
            <a:noFill/>
          </a:ln>
        </p:spPr>
        <p:txBody>
          <a:bodyPr spcFirstLastPara="1" wrap="square" lIns="0" tIns="0" rIns="0" bIns="0" anchor="t" anchorCtr="0">
            <a:noAutofit/>
          </a:bodyPr>
          <a:lstStyle/>
          <a:p>
            <a:pPr marL="0" marR="0" lvl="0" indent="0" algn="ctr" rtl="0">
              <a:lnSpc>
                <a:spcPct val="125000"/>
              </a:lnSpc>
              <a:spcBef>
                <a:spcPts val="0"/>
              </a:spcBef>
              <a:spcAft>
                <a:spcPts val="0"/>
              </a:spcAft>
              <a:buClr>
                <a:srgbClr val="2B2E3C"/>
              </a:buClr>
              <a:buSzPts val="2200"/>
              <a:buFont typeface="Bitter"/>
              <a:buNone/>
            </a:pPr>
            <a:r>
              <a:rPr lang="en-US" sz="2200" b="0" i="0" u="none" strike="noStrike" cap="none">
                <a:solidFill>
                  <a:srgbClr val="2B2E3C"/>
                </a:solidFill>
                <a:latin typeface="Bitter"/>
                <a:ea typeface="Bitter"/>
                <a:cs typeface="Bitter"/>
                <a:sym typeface="Bitter"/>
              </a:rPr>
              <a:t>Training R² Score</a:t>
            </a:r>
            <a:endParaRPr sz="2200" b="0" i="0" u="none" strike="noStrike" cap="none"/>
          </a:p>
        </p:txBody>
      </p:sp>
      <p:sp>
        <p:nvSpPr>
          <p:cNvPr id="238" name="Google Shape;238;p28"/>
          <p:cNvSpPr/>
          <p:nvPr/>
        </p:nvSpPr>
        <p:spPr>
          <a:xfrm>
            <a:off x="793800" y="4069323"/>
            <a:ext cx="4311600" cy="725700"/>
          </a:xfrm>
          <a:prstGeom prst="rect">
            <a:avLst/>
          </a:prstGeom>
          <a:noFill/>
          <a:ln>
            <a:noFill/>
          </a:ln>
        </p:spPr>
        <p:txBody>
          <a:bodyPr spcFirstLastPara="1" wrap="square" lIns="0" tIns="0" rIns="0" bIns="0" anchor="t" anchorCtr="0">
            <a:noAutofit/>
          </a:bodyPr>
          <a:lstStyle/>
          <a:p>
            <a:pPr marL="0" marR="0" lvl="0" indent="0" algn="ctr" rtl="0">
              <a:lnSpc>
                <a:spcPct val="162857"/>
              </a:lnSpc>
              <a:spcBef>
                <a:spcPts val="0"/>
              </a:spcBef>
              <a:spcAft>
                <a:spcPts val="0"/>
              </a:spcAft>
              <a:buClr>
                <a:srgbClr val="2B2E3C"/>
              </a:buClr>
              <a:buSzPts val="1750"/>
              <a:buFont typeface="Open Sans"/>
              <a:buNone/>
            </a:pPr>
            <a:r>
              <a:rPr lang="en-US" sz="1750" b="0" i="0" u="none" strike="noStrike" cap="none">
                <a:solidFill>
                  <a:srgbClr val="2B2E3C"/>
                </a:solidFill>
                <a:latin typeface="Open Sans"/>
                <a:ea typeface="Open Sans"/>
                <a:cs typeface="Open Sans"/>
                <a:sym typeface="Open Sans"/>
              </a:rPr>
              <a:t>The model learned historical patterns very well, showing strong pattern recognition</a:t>
            </a:r>
            <a:endParaRPr sz="1750" b="0" i="0" u="none" strike="noStrike" cap="none"/>
          </a:p>
        </p:txBody>
      </p:sp>
      <p:sp>
        <p:nvSpPr>
          <p:cNvPr id="239" name="Google Shape;239;p28"/>
          <p:cNvSpPr/>
          <p:nvPr/>
        </p:nvSpPr>
        <p:spPr>
          <a:xfrm>
            <a:off x="5129728" y="2547100"/>
            <a:ext cx="4592100" cy="748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2B2E3C"/>
              </a:buClr>
              <a:buSzPts val="5850"/>
              <a:buFont typeface="Bitter"/>
              <a:buNone/>
            </a:pPr>
            <a:r>
              <a:rPr lang="en-US" sz="5850" b="0" i="0" u="none" strike="noStrike" cap="none">
                <a:solidFill>
                  <a:srgbClr val="2B2E3C"/>
                </a:solidFill>
                <a:latin typeface="Bitter"/>
                <a:ea typeface="Bitter"/>
                <a:cs typeface="Bitter"/>
                <a:sym typeface="Bitter"/>
              </a:rPr>
              <a:t>0.01</a:t>
            </a:r>
            <a:endParaRPr sz="5850" b="0" i="0" u="none" strike="noStrike" cap="none"/>
          </a:p>
        </p:txBody>
      </p:sp>
      <p:sp>
        <p:nvSpPr>
          <p:cNvPr id="240" name="Google Shape;240;p28"/>
          <p:cNvSpPr/>
          <p:nvPr/>
        </p:nvSpPr>
        <p:spPr>
          <a:xfrm>
            <a:off x="5998725" y="3578900"/>
            <a:ext cx="2633400" cy="354300"/>
          </a:xfrm>
          <a:prstGeom prst="rect">
            <a:avLst/>
          </a:prstGeom>
          <a:noFill/>
          <a:ln>
            <a:noFill/>
          </a:ln>
        </p:spPr>
        <p:txBody>
          <a:bodyPr spcFirstLastPara="1" wrap="square" lIns="0" tIns="0" rIns="0" bIns="0" anchor="t" anchorCtr="0">
            <a:noAutofit/>
          </a:bodyPr>
          <a:lstStyle/>
          <a:p>
            <a:pPr marL="0" marR="0" lvl="0" indent="0" algn="ctr" rtl="0">
              <a:lnSpc>
                <a:spcPct val="125000"/>
              </a:lnSpc>
              <a:spcBef>
                <a:spcPts val="0"/>
              </a:spcBef>
              <a:spcAft>
                <a:spcPts val="0"/>
              </a:spcAft>
              <a:buClr>
                <a:srgbClr val="2B2E3C"/>
              </a:buClr>
              <a:buSzPts val="2200"/>
              <a:buFont typeface="Bitter"/>
              <a:buNone/>
            </a:pPr>
            <a:r>
              <a:rPr lang="en-US" sz="2200" b="0" i="0" u="none" strike="noStrike" cap="none">
                <a:solidFill>
                  <a:srgbClr val="2B2E3C"/>
                </a:solidFill>
                <a:latin typeface="Bitter"/>
                <a:ea typeface="Bitter"/>
                <a:cs typeface="Bitter"/>
                <a:sym typeface="Bitter"/>
              </a:rPr>
              <a:t>Testing R² Score</a:t>
            </a:r>
            <a:endParaRPr sz="2200" b="0" i="0" u="none" strike="noStrike" cap="none"/>
          </a:p>
        </p:txBody>
      </p:sp>
      <p:sp>
        <p:nvSpPr>
          <p:cNvPr id="241" name="Google Shape;241;p28"/>
          <p:cNvSpPr/>
          <p:nvPr/>
        </p:nvSpPr>
        <p:spPr>
          <a:xfrm>
            <a:off x="5129728" y="4069318"/>
            <a:ext cx="4592100" cy="725700"/>
          </a:xfrm>
          <a:prstGeom prst="rect">
            <a:avLst/>
          </a:prstGeom>
          <a:noFill/>
          <a:ln>
            <a:noFill/>
          </a:ln>
        </p:spPr>
        <p:txBody>
          <a:bodyPr spcFirstLastPara="1" wrap="square" lIns="0" tIns="0" rIns="0" bIns="0" anchor="t" anchorCtr="0">
            <a:noAutofit/>
          </a:bodyPr>
          <a:lstStyle/>
          <a:p>
            <a:pPr marL="0" marR="0" lvl="0" indent="0" algn="ctr" rtl="0">
              <a:lnSpc>
                <a:spcPct val="162857"/>
              </a:lnSpc>
              <a:spcBef>
                <a:spcPts val="0"/>
              </a:spcBef>
              <a:spcAft>
                <a:spcPts val="0"/>
              </a:spcAft>
              <a:buClr>
                <a:srgbClr val="2B2E3C"/>
              </a:buClr>
              <a:buSzPts val="1750"/>
              <a:buFont typeface="Open Sans"/>
              <a:buNone/>
            </a:pPr>
            <a:r>
              <a:rPr lang="en-US" sz="1750" b="0" i="0" u="none" strike="noStrike" cap="none">
                <a:solidFill>
                  <a:srgbClr val="2B2E3C"/>
                </a:solidFill>
                <a:latin typeface="Open Sans"/>
                <a:ea typeface="Open Sans"/>
                <a:cs typeface="Open Sans"/>
                <a:sym typeface="Open Sans"/>
              </a:rPr>
              <a:t>High volatility in cricket scores makes prediction difficult, but positive score proves better than random guessing</a:t>
            </a:r>
            <a:endParaRPr sz="1750" b="0" i="0" u="none" strike="noStrike" cap="none"/>
          </a:p>
        </p:txBody>
      </p:sp>
      <p:sp>
        <p:nvSpPr>
          <p:cNvPr id="242" name="Google Shape;242;p28"/>
          <p:cNvSpPr/>
          <p:nvPr/>
        </p:nvSpPr>
        <p:spPr>
          <a:xfrm>
            <a:off x="793790" y="5888474"/>
            <a:ext cx="13042800" cy="1908000"/>
          </a:xfrm>
          <a:prstGeom prst="roundRect">
            <a:avLst>
              <a:gd name="adj" fmla="val 4993"/>
            </a:avLst>
          </a:prstGeom>
          <a:solidFill>
            <a:srgbClr val="FAD3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3" name="Google Shape;243;p28" descr="preencoded.png"/>
          <p:cNvPicPr preferRelativeResize="0"/>
          <p:nvPr/>
        </p:nvPicPr>
        <p:blipFill rotWithShape="1">
          <a:blip r:embed="rId3">
            <a:alphaModFix/>
          </a:blip>
          <a:srcRect/>
          <a:stretch/>
        </p:blipFill>
        <p:spPr>
          <a:xfrm>
            <a:off x="1020604" y="5961936"/>
            <a:ext cx="354330" cy="283488"/>
          </a:xfrm>
          <a:prstGeom prst="rect">
            <a:avLst/>
          </a:prstGeom>
          <a:noFill/>
          <a:ln>
            <a:noFill/>
          </a:ln>
        </p:spPr>
      </p:pic>
      <p:sp>
        <p:nvSpPr>
          <p:cNvPr id="244" name="Google Shape;244;p28"/>
          <p:cNvSpPr/>
          <p:nvPr/>
        </p:nvSpPr>
        <p:spPr>
          <a:xfrm>
            <a:off x="1601748" y="5943362"/>
            <a:ext cx="2835300" cy="3543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000000"/>
              </a:buClr>
              <a:buSzPts val="2200"/>
              <a:buFont typeface="Bitter"/>
              <a:buNone/>
            </a:pPr>
            <a:r>
              <a:rPr lang="en-US" sz="2200" b="0" i="0" u="none" strike="noStrike" cap="none">
                <a:solidFill>
                  <a:srgbClr val="000000"/>
                </a:solidFill>
                <a:latin typeface="Bitter"/>
                <a:ea typeface="Bitter"/>
                <a:cs typeface="Bitter"/>
                <a:sym typeface="Bitter"/>
              </a:rPr>
              <a:t>Key Interpretation</a:t>
            </a:r>
            <a:endParaRPr sz="2200" b="0" i="0" u="none" strike="noStrike" cap="none"/>
          </a:p>
        </p:txBody>
      </p:sp>
      <p:sp>
        <p:nvSpPr>
          <p:cNvPr id="245" name="Google Shape;245;p28"/>
          <p:cNvSpPr/>
          <p:nvPr/>
        </p:nvSpPr>
        <p:spPr>
          <a:xfrm>
            <a:off x="1601748" y="6524506"/>
            <a:ext cx="12008100" cy="72570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000000"/>
              </a:buClr>
              <a:buSzPts val="1750"/>
              <a:buFont typeface="Open Sans"/>
              <a:buNone/>
            </a:pPr>
            <a:r>
              <a:rPr lang="en-US" sz="1750" b="0" i="0" u="none" strike="noStrike" cap="none">
                <a:solidFill>
                  <a:srgbClr val="000000"/>
                </a:solidFill>
                <a:latin typeface="Open Sans"/>
                <a:ea typeface="Open Sans"/>
                <a:cs typeface="Open Sans"/>
                <a:sym typeface="Open Sans"/>
              </a:rPr>
              <a:t>The significant gap between 0.58 and 0.01 highlights how unpredictable modern Indian tracks have become</a:t>
            </a:r>
            <a:r>
              <a:rPr lang="en-US" sz="1750">
                <a:latin typeface="Open Sans"/>
                <a:ea typeface="Open Sans"/>
                <a:cs typeface="Open Sans"/>
                <a:sym typeface="Open Sans"/>
              </a:rPr>
              <a:t> </a:t>
            </a:r>
            <a:r>
              <a:rPr lang="en-US" sz="1750" b="0" i="0" u="none" strike="noStrike" cap="none">
                <a:solidFill>
                  <a:srgbClr val="000000"/>
                </a:solidFill>
                <a:latin typeface="Open Sans"/>
                <a:ea typeface="Open Sans"/>
                <a:cs typeface="Open Sans"/>
                <a:sym typeface="Open Sans"/>
              </a:rPr>
              <a:t>even a sophisticated model struggles with the high variance in scoring patterns.</a:t>
            </a:r>
            <a:endParaRPr sz="1750" b="0" i="0" u="none" strike="noStrike" cap="none"/>
          </a:p>
        </p:txBody>
      </p:sp>
      <p:pic>
        <p:nvPicPr>
          <p:cNvPr id="246" name="Google Shape;246;p28"/>
          <p:cNvPicPr preferRelativeResize="0"/>
          <p:nvPr/>
        </p:nvPicPr>
        <p:blipFill>
          <a:blip r:embed="rId4">
            <a:alphaModFix/>
          </a:blip>
          <a:stretch>
            <a:fillRect/>
          </a:stretch>
        </p:blipFill>
        <p:spPr>
          <a:xfrm>
            <a:off x="12789403" y="7778150"/>
            <a:ext cx="1841000" cy="371475"/>
          </a:xfrm>
          <a:prstGeom prst="rect">
            <a:avLst/>
          </a:prstGeom>
          <a:noFill/>
          <a:ln>
            <a:noFill/>
          </a:ln>
        </p:spPr>
      </p:pic>
      <p:sp>
        <p:nvSpPr>
          <p:cNvPr id="247" name="Google Shape;247;p28"/>
          <p:cNvSpPr/>
          <p:nvPr/>
        </p:nvSpPr>
        <p:spPr>
          <a:xfrm>
            <a:off x="9746150" y="2493712"/>
            <a:ext cx="4737600" cy="855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2B2E3C"/>
              </a:buClr>
              <a:buSzPts val="5850"/>
              <a:buFont typeface="Bitter"/>
              <a:buNone/>
            </a:pPr>
            <a:r>
              <a:rPr lang="en-US" sz="5850">
                <a:solidFill>
                  <a:srgbClr val="2B2E3C"/>
                </a:solidFill>
                <a:latin typeface="Bitter"/>
                <a:ea typeface="Bitter"/>
                <a:cs typeface="Bitter"/>
                <a:sym typeface="Bitter"/>
              </a:rPr>
              <a:t>34.59 </a:t>
            </a:r>
            <a:endParaRPr sz="5850" b="0" i="0" u="none" strike="noStrike" cap="none"/>
          </a:p>
        </p:txBody>
      </p:sp>
      <p:sp>
        <p:nvSpPr>
          <p:cNvPr id="248" name="Google Shape;248;p28"/>
          <p:cNvSpPr/>
          <p:nvPr/>
        </p:nvSpPr>
        <p:spPr>
          <a:xfrm>
            <a:off x="10528200" y="3553550"/>
            <a:ext cx="2904000" cy="405000"/>
          </a:xfrm>
          <a:prstGeom prst="rect">
            <a:avLst/>
          </a:prstGeom>
          <a:noFill/>
          <a:ln>
            <a:noFill/>
          </a:ln>
        </p:spPr>
        <p:txBody>
          <a:bodyPr spcFirstLastPara="1" wrap="square" lIns="0" tIns="0" rIns="0" bIns="0" anchor="t" anchorCtr="0">
            <a:noAutofit/>
          </a:bodyPr>
          <a:lstStyle/>
          <a:p>
            <a:pPr marL="0" marR="0" lvl="0" indent="0" algn="ctr" rtl="0">
              <a:lnSpc>
                <a:spcPct val="125000"/>
              </a:lnSpc>
              <a:spcBef>
                <a:spcPts val="0"/>
              </a:spcBef>
              <a:spcAft>
                <a:spcPts val="0"/>
              </a:spcAft>
              <a:buClr>
                <a:srgbClr val="2B2E3C"/>
              </a:buClr>
              <a:buSzPts val="2200"/>
              <a:buFont typeface="Bitter"/>
              <a:buNone/>
            </a:pPr>
            <a:r>
              <a:rPr lang="en-US" sz="2200">
                <a:solidFill>
                  <a:srgbClr val="2B2E3C"/>
                </a:solidFill>
                <a:latin typeface="Bitter"/>
                <a:ea typeface="Bitter"/>
                <a:cs typeface="Bitter"/>
                <a:sym typeface="Bitter"/>
              </a:rPr>
              <a:t>Mean Absolute Error</a:t>
            </a:r>
            <a:endParaRPr sz="2200" b="0" i="0" u="none" strike="noStrike" cap="none"/>
          </a:p>
        </p:txBody>
      </p:sp>
      <p:sp>
        <p:nvSpPr>
          <p:cNvPr id="249" name="Google Shape;249;p28"/>
          <p:cNvSpPr/>
          <p:nvPr/>
        </p:nvSpPr>
        <p:spPr>
          <a:xfrm>
            <a:off x="9751350" y="4069328"/>
            <a:ext cx="4737600" cy="1169400"/>
          </a:xfrm>
          <a:prstGeom prst="rect">
            <a:avLst/>
          </a:prstGeom>
          <a:noFill/>
          <a:ln>
            <a:noFill/>
          </a:ln>
        </p:spPr>
        <p:txBody>
          <a:bodyPr spcFirstLastPara="1" wrap="square" lIns="0" tIns="0" rIns="0" bIns="0" anchor="t" anchorCtr="0">
            <a:noAutofit/>
          </a:bodyPr>
          <a:lstStyle/>
          <a:p>
            <a:pPr marL="0" marR="0" lvl="0" indent="0" algn="ctr" rtl="0">
              <a:lnSpc>
                <a:spcPct val="162857"/>
              </a:lnSpc>
              <a:spcBef>
                <a:spcPts val="0"/>
              </a:spcBef>
              <a:spcAft>
                <a:spcPts val="0"/>
              </a:spcAft>
              <a:buClr>
                <a:srgbClr val="2B2E3C"/>
              </a:buClr>
              <a:buSzPts val="1750"/>
              <a:buFont typeface="Open Sans"/>
              <a:buNone/>
            </a:pPr>
            <a:r>
              <a:rPr lang="en-US" sz="1750">
                <a:solidFill>
                  <a:srgbClr val="2B2E3C"/>
                </a:solidFill>
                <a:latin typeface="Open Sans"/>
                <a:ea typeface="Open Sans"/>
                <a:cs typeface="Open Sans"/>
                <a:sym typeface="Open Sans"/>
              </a:rPr>
              <a:t>This error margin proves that individual cricket innings still have a massive 'human element' or 'luck factor' worth about 35 runs. </a:t>
            </a:r>
            <a:endParaRPr sz="1750" b="0" i="0" u="none" strike="noStrike" cap="none"/>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9"/>
          <p:cNvSpPr/>
          <p:nvPr/>
        </p:nvSpPr>
        <p:spPr>
          <a:xfrm>
            <a:off x="793790" y="1378148"/>
            <a:ext cx="5882402" cy="708779"/>
          </a:xfrm>
          <a:prstGeom prst="rect">
            <a:avLst/>
          </a:prstGeom>
          <a:noFill/>
          <a:ln>
            <a:noFill/>
          </a:ln>
        </p:spPr>
        <p:txBody>
          <a:bodyPr spcFirstLastPara="1" wrap="square" lIns="0" tIns="0" rIns="0" bIns="0" anchor="t" anchorCtr="0">
            <a:noAutofit/>
          </a:bodyPr>
          <a:lstStyle/>
          <a:p>
            <a:pPr marL="0" marR="0" lvl="0" indent="0" algn="l" rtl="0">
              <a:lnSpc>
                <a:spcPct val="124719"/>
              </a:lnSpc>
              <a:spcBef>
                <a:spcPts val="0"/>
              </a:spcBef>
              <a:spcAft>
                <a:spcPts val="0"/>
              </a:spcAft>
              <a:buClr>
                <a:srgbClr val="2C3F42"/>
              </a:buClr>
              <a:buSzPts val="4450"/>
              <a:buFont typeface="Bitter"/>
              <a:buNone/>
            </a:pPr>
            <a:r>
              <a:rPr lang="en-US" sz="4450" b="0" i="0" u="none" strike="noStrike" cap="none">
                <a:solidFill>
                  <a:srgbClr val="2C3F42"/>
                </a:solidFill>
                <a:latin typeface="Bitter"/>
                <a:ea typeface="Bitter"/>
                <a:cs typeface="Bitter"/>
                <a:sym typeface="Bitter"/>
              </a:rPr>
              <a:t>Findings &amp; Conclusion</a:t>
            </a:r>
            <a:endParaRPr sz="4450" b="0" i="0" u="none" strike="noStrike" cap="none"/>
          </a:p>
        </p:txBody>
      </p:sp>
      <p:sp>
        <p:nvSpPr>
          <p:cNvPr id="256" name="Google Shape;256;p29"/>
          <p:cNvSpPr/>
          <p:nvPr/>
        </p:nvSpPr>
        <p:spPr>
          <a:xfrm>
            <a:off x="793790" y="2540556"/>
            <a:ext cx="4196358" cy="2819519"/>
          </a:xfrm>
          <a:prstGeom prst="roundRect">
            <a:avLst>
              <a:gd name="adj" fmla="val 5189"/>
            </a:avLst>
          </a:prstGeom>
          <a:solidFill>
            <a:srgbClr val="FFF8F0"/>
          </a:solidFill>
          <a:ln w="30475" cap="flat" cmpd="sng">
            <a:solidFill>
              <a:srgbClr val="D2600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9"/>
          <p:cNvSpPr/>
          <p:nvPr/>
        </p:nvSpPr>
        <p:spPr>
          <a:xfrm>
            <a:off x="763310" y="2540556"/>
            <a:ext cx="121920" cy="2819519"/>
          </a:xfrm>
          <a:prstGeom prst="roundRect">
            <a:avLst>
              <a:gd name="adj" fmla="val 78139"/>
            </a:avLst>
          </a:prstGeom>
          <a:solidFill>
            <a:srgbClr val="D260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9"/>
          <p:cNvSpPr/>
          <p:nvPr/>
        </p:nvSpPr>
        <p:spPr>
          <a:xfrm>
            <a:off x="1142524" y="2797850"/>
            <a:ext cx="2835235" cy="35433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B2E3C"/>
              </a:buClr>
              <a:buSzPts val="2200"/>
              <a:buFont typeface="Bitter"/>
              <a:buNone/>
            </a:pPr>
            <a:r>
              <a:rPr lang="en-US" sz="2200" b="0" i="0" u="none" strike="noStrike" cap="none">
                <a:solidFill>
                  <a:srgbClr val="2B2E3C"/>
                </a:solidFill>
                <a:latin typeface="Bitter"/>
                <a:ea typeface="Bitter"/>
                <a:cs typeface="Bitter"/>
                <a:sym typeface="Bitter"/>
              </a:rPr>
              <a:t>Primary Driver</a:t>
            </a:r>
            <a:endParaRPr sz="2200" b="0" i="0" u="none" strike="noStrike" cap="none"/>
          </a:p>
        </p:txBody>
      </p:sp>
      <p:sp>
        <p:nvSpPr>
          <p:cNvPr id="259" name="Google Shape;259;p29"/>
          <p:cNvSpPr/>
          <p:nvPr/>
        </p:nvSpPr>
        <p:spPr>
          <a:xfrm>
            <a:off x="1142524" y="3288268"/>
            <a:ext cx="3590330" cy="1814513"/>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1" i="0" u="none" strike="noStrike" cap="none">
                <a:solidFill>
                  <a:srgbClr val="2B2E3C"/>
                </a:solidFill>
                <a:latin typeface="Open Sans"/>
                <a:ea typeface="Open Sans"/>
                <a:cs typeface="Open Sans"/>
                <a:sym typeface="Open Sans"/>
              </a:rPr>
              <a:t>Pitch Rating</a:t>
            </a:r>
            <a:r>
              <a:rPr lang="en-US" sz="1750" b="0" i="0" u="none" strike="noStrike" cap="none">
                <a:solidFill>
                  <a:srgbClr val="2B2E3C"/>
                </a:solidFill>
                <a:latin typeface="Open Sans"/>
                <a:ea typeface="Open Sans"/>
                <a:cs typeface="Open Sans"/>
                <a:sym typeface="Open Sans"/>
              </a:rPr>
              <a:t> emerged as the most influential factor in batting performance decline</a:t>
            </a:r>
            <a:endParaRPr sz="1750" b="0" i="0" u="none" strike="noStrike" cap="none"/>
          </a:p>
        </p:txBody>
      </p:sp>
      <p:sp>
        <p:nvSpPr>
          <p:cNvPr id="260" name="Google Shape;260;p29"/>
          <p:cNvSpPr/>
          <p:nvPr/>
        </p:nvSpPr>
        <p:spPr>
          <a:xfrm>
            <a:off x="5216962" y="2540556"/>
            <a:ext cx="4196358" cy="2819519"/>
          </a:xfrm>
          <a:prstGeom prst="roundRect">
            <a:avLst>
              <a:gd name="adj" fmla="val 5189"/>
            </a:avLst>
          </a:prstGeom>
          <a:solidFill>
            <a:srgbClr val="FFF8F0"/>
          </a:solidFill>
          <a:ln w="30475" cap="flat" cmpd="sng">
            <a:solidFill>
              <a:srgbClr val="D2600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9"/>
          <p:cNvSpPr/>
          <p:nvPr/>
        </p:nvSpPr>
        <p:spPr>
          <a:xfrm>
            <a:off x="5186482" y="2540556"/>
            <a:ext cx="121920" cy="2819519"/>
          </a:xfrm>
          <a:prstGeom prst="roundRect">
            <a:avLst>
              <a:gd name="adj" fmla="val 78139"/>
            </a:avLst>
          </a:prstGeom>
          <a:solidFill>
            <a:srgbClr val="D260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9"/>
          <p:cNvSpPr/>
          <p:nvPr/>
        </p:nvSpPr>
        <p:spPr>
          <a:xfrm>
            <a:off x="5565696" y="2797850"/>
            <a:ext cx="2908578" cy="35433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B2E3C"/>
              </a:buClr>
              <a:buSzPts val="2200"/>
              <a:buFont typeface="Bitter"/>
              <a:buNone/>
            </a:pPr>
            <a:r>
              <a:rPr lang="en-US" sz="2200" b="0" i="0" u="none" strike="noStrike" cap="none">
                <a:solidFill>
                  <a:srgbClr val="2B2E3C"/>
                </a:solidFill>
                <a:latin typeface="Bitter"/>
                <a:ea typeface="Bitter"/>
                <a:cs typeface="Bitter"/>
                <a:sym typeface="Bitter"/>
              </a:rPr>
              <a:t>Chronological Decline</a:t>
            </a:r>
            <a:endParaRPr sz="2200" b="0" i="0" u="none" strike="noStrike" cap="none"/>
          </a:p>
        </p:txBody>
      </p:sp>
      <p:sp>
        <p:nvSpPr>
          <p:cNvPr id="263" name="Google Shape;263;p29"/>
          <p:cNvSpPr/>
          <p:nvPr/>
        </p:nvSpPr>
        <p:spPr>
          <a:xfrm>
            <a:off x="5565696" y="3288268"/>
            <a:ext cx="3590330" cy="1451610"/>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1" i="0" u="none" strike="noStrike" cap="none">
                <a:solidFill>
                  <a:srgbClr val="2B2E3C"/>
                </a:solidFill>
                <a:latin typeface="Open Sans"/>
                <a:ea typeface="Open Sans"/>
                <a:cs typeface="Open Sans"/>
                <a:sym typeface="Open Sans"/>
              </a:rPr>
              <a:t>Year</a:t>
            </a:r>
            <a:r>
              <a:rPr lang="en-US" sz="1750" b="0" i="0" u="none" strike="noStrike" cap="none">
                <a:solidFill>
                  <a:srgbClr val="2B2E3C"/>
                </a:solidFill>
                <a:latin typeface="Open Sans"/>
                <a:ea typeface="Open Sans"/>
                <a:cs typeface="Open Sans"/>
                <a:sym typeface="Open Sans"/>
              </a:rPr>
              <a:t> ranking as a top factor suggests a systemic decline that isn't just about pitch surfaces</a:t>
            </a:r>
            <a:r>
              <a:rPr lang="en-US" sz="1750">
                <a:solidFill>
                  <a:srgbClr val="2B2E3C"/>
                </a:solidFill>
                <a:latin typeface="Open Sans"/>
                <a:ea typeface="Open Sans"/>
                <a:cs typeface="Open Sans"/>
                <a:sym typeface="Open Sans"/>
              </a:rPr>
              <a:t> </a:t>
            </a:r>
            <a:r>
              <a:rPr lang="en-US" sz="1750" b="0" i="0" u="none" strike="noStrike" cap="none">
                <a:solidFill>
                  <a:srgbClr val="2B2E3C"/>
                </a:solidFill>
                <a:latin typeface="Open Sans"/>
                <a:ea typeface="Open Sans"/>
                <a:cs typeface="Open Sans"/>
                <a:sym typeface="Open Sans"/>
              </a:rPr>
              <a:t>it reflects broader changes</a:t>
            </a:r>
            <a:endParaRPr sz="1750" b="0" i="0" u="none" strike="noStrike" cap="none"/>
          </a:p>
        </p:txBody>
      </p:sp>
      <p:sp>
        <p:nvSpPr>
          <p:cNvPr id="264" name="Google Shape;264;p29"/>
          <p:cNvSpPr/>
          <p:nvPr/>
        </p:nvSpPr>
        <p:spPr>
          <a:xfrm>
            <a:off x="9640133" y="2540556"/>
            <a:ext cx="4196358" cy="2819519"/>
          </a:xfrm>
          <a:prstGeom prst="roundRect">
            <a:avLst>
              <a:gd name="adj" fmla="val 5189"/>
            </a:avLst>
          </a:prstGeom>
          <a:solidFill>
            <a:srgbClr val="FFF8F0"/>
          </a:solidFill>
          <a:ln w="30475" cap="flat" cmpd="sng">
            <a:solidFill>
              <a:srgbClr val="D2600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9"/>
          <p:cNvSpPr/>
          <p:nvPr/>
        </p:nvSpPr>
        <p:spPr>
          <a:xfrm>
            <a:off x="9609653" y="2540556"/>
            <a:ext cx="121920" cy="2819519"/>
          </a:xfrm>
          <a:prstGeom prst="roundRect">
            <a:avLst>
              <a:gd name="adj" fmla="val 78139"/>
            </a:avLst>
          </a:prstGeom>
          <a:solidFill>
            <a:srgbClr val="D260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9"/>
          <p:cNvSpPr/>
          <p:nvPr/>
        </p:nvSpPr>
        <p:spPr>
          <a:xfrm>
            <a:off x="9988868" y="2797850"/>
            <a:ext cx="2835235" cy="35433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B2E3C"/>
              </a:buClr>
              <a:buSzPts val="2200"/>
              <a:buFont typeface="Bitter"/>
              <a:buNone/>
            </a:pPr>
            <a:r>
              <a:rPr lang="en-US" sz="2200" b="0" i="0" u="none" strike="noStrike" cap="none">
                <a:solidFill>
                  <a:srgbClr val="2B2E3C"/>
                </a:solidFill>
                <a:latin typeface="Bitter"/>
                <a:ea typeface="Bitter"/>
                <a:cs typeface="Bitter"/>
                <a:sym typeface="Bitter"/>
              </a:rPr>
              <a:t>Technical Insight</a:t>
            </a:r>
            <a:endParaRPr sz="2200" b="0" i="0" u="none" strike="noStrike" cap="none"/>
          </a:p>
        </p:txBody>
      </p:sp>
      <p:sp>
        <p:nvSpPr>
          <p:cNvPr id="267" name="Google Shape;267;p29"/>
          <p:cNvSpPr/>
          <p:nvPr/>
        </p:nvSpPr>
        <p:spPr>
          <a:xfrm>
            <a:off x="9988868" y="3288268"/>
            <a:ext cx="3590330" cy="1814513"/>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0" i="0" u="none" strike="noStrike" cap="none">
                <a:solidFill>
                  <a:srgbClr val="2B2E3C"/>
                </a:solidFill>
                <a:latin typeface="Open Sans"/>
                <a:ea typeface="Open Sans"/>
                <a:cs typeface="Open Sans"/>
                <a:sym typeface="Open Sans"/>
              </a:rPr>
              <a:t>If </a:t>
            </a:r>
            <a:r>
              <a:rPr lang="en-US" sz="1750" b="1" i="0" u="none" strike="noStrike" cap="none">
                <a:solidFill>
                  <a:srgbClr val="2B2E3C"/>
                </a:solidFill>
                <a:latin typeface="Open Sans"/>
                <a:ea typeface="Open Sans"/>
                <a:cs typeface="Open Sans"/>
                <a:sym typeface="Open Sans"/>
              </a:rPr>
              <a:t>Is_Spin</a:t>
            </a:r>
            <a:r>
              <a:rPr lang="en-US" sz="1750" b="0" i="0" u="none" strike="noStrike" cap="none">
                <a:solidFill>
                  <a:srgbClr val="2B2E3C"/>
                </a:solidFill>
                <a:latin typeface="Open Sans"/>
                <a:ea typeface="Open Sans"/>
                <a:cs typeface="Open Sans"/>
                <a:sym typeface="Open Sans"/>
              </a:rPr>
              <a:t> ranked high in importance, the downfall is technically linked to spin-playing ability and technique against spin bowling</a:t>
            </a:r>
            <a:endParaRPr sz="1750" b="0" i="0" u="none" strike="noStrike" cap="none"/>
          </a:p>
        </p:txBody>
      </p:sp>
      <p:sp>
        <p:nvSpPr>
          <p:cNvPr id="268" name="Google Shape;268;p29"/>
          <p:cNvSpPr/>
          <p:nvPr/>
        </p:nvSpPr>
        <p:spPr>
          <a:xfrm>
            <a:off x="1133951" y="5870377"/>
            <a:ext cx="12702659" cy="725805"/>
          </a:xfrm>
          <a:prstGeom prst="rect">
            <a:avLst/>
          </a:prstGeom>
          <a:noFill/>
          <a:ln>
            <a:noFill/>
          </a:ln>
        </p:spPr>
        <p:txBody>
          <a:bodyPr spcFirstLastPara="1" wrap="square" lIns="0" tIns="0" rIns="0" bIns="0" anchor="t" anchorCtr="0">
            <a:noAutofit/>
          </a:bodyPr>
          <a:lstStyle/>
          <a:p>
            <a:pPr marL="0" marR="0" lvl="0" indent="0" algn="l" rtl="0">
              <a:lnSpc>
                <a:spcPct val="162857"/>
              </a:lnSpc>
              <a:spcBef>
                <a:spcPts val="0"/>
              </a:spcBef>
              <a:spcAft>
                <a:spcPts val="0"/>
              </a:spcAft>
              <a:buClr>
                <a:srgbClr val="2B2E3C"/>
              </a:buClr>
              <a:buSzPts val="1750"/>
              <a:buFont typeface="Open Sans"/>
              <a:buNone/>
            </a:pPr>
            <a:r>
              <a:rPr lang="en-US" sz="1750" b="1" i="0" u="none" strike="noStrike" cap="none">
                <a:solidFill>
                  <a:srgbClr val="2B2E3C"/>
                </a:solidFill>
                <a:latin typeface="Open Sans"/>
                <a:ea typeface="Open Sans"/>
                <a:cs typeface="Open Sans"/>
                <a:sym typeface="Open Sans"/>
              </a:rPr>
              <a:t>Final Word:</a:t>
            </a:r>
            <a:r>
              <a:rPr lang="en-US" sz="1750" b="0" i="0" u="none" strike="noStrike" cap="none">
                <a:solidFill>
                  <a:srgbClr val="2B2E3C"/>
                </a:solidFill>
                <a:latin typeface="Open Sans"/>
                <a:ea typeface="Open Sans"/>
                <a:cs typeface="Open Sans"/>
                <a:sym typeface="Open Sans"/>
              </a:rPr>
              <a:t> The "Downfall" is a measurable reality, driven largely by environmental (pitch) and temporal (time) factors. The analysis provides quantifiable evidence of performance decline beyond anecdotal observations.</a:t>
            </a:r>
            <a:endParaRPr sz="1750" b="0" i="0" u="none" strike="noStrike" cap="none"/>
          </a:p>
        </p:txBody>
      </p:sp>
      <p:sp>
        <p:nvSpPr>
          <p:cNvPr id="269" name="Google Shape;269;p29"/>
          <p:cNvSpPr/>
          <p:nvPr/>
        </p:nvSpPr>
        <p:spPr>
          <a:xfrm>
            <a:off x="793790" y="5615226"/>
            <a:ext cx="30480" cy="1236107"/>
          </a:xfrm>
          <a:prstGeom prst="rect">
            <a:avLst/>
          </a:prstGeom>
          <a:solidFill>
            <a:srgbClr val="D260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0" name="Google Shape;270;p29"/>
          <p:cNvPicPr preferRelativeResize="0"/>
          <p:nvPr/>
        </p:nvPicPr>
        <p:blipFill>
          <a:blip r:embed="rId3">
            <a:alphaModFix/>
          </a:blip>
          <a:stretch>
            <a:fillRect/>
          </a:stretch>
        </p:blipFill>
        <p:spPr>
          <a:xfrm>
            <a:off x="12789403" y="7778150"/>
            <a:ext cx="1841000" cy="3714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930</Words>
  <PresentationFormat>Custom</PresentationFormat>
  <Paragraphs>98</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Bitter</vt:lpstr>
      <vt:lpstr>Open Sans</vt:lpstr>
      <vt:lpstr>Georgia</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gaurav kotteda</cp:lastModifiedBy>
  <cp:revision>1</cp:revision>
  <dcterms:modified xsi:type="dcterms:W3CDTF">2026-03-06T03:59:44Z</dcterms:modified>
</cp:coreProperties>
</file>